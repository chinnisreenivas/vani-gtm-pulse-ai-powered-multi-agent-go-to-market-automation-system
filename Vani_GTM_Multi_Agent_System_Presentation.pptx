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11F"/>
        </a:solidFill>
        <a:effectLst/>
      </p:bgPr>
    </p:bg>
    <p:spTree>
      <p:nvGrpSpPr>
        <p:cNvPr id="1" name=""/>
        <p:cNvGrpSpPr/>
        <p:nvPr/>
      </p:nvGrpSpPr>
      <p:grpSpPr/>
      <p:sp>
        <p:nvSpPr>
          <p:cNvPr id="2" name="Rectangle 1"/>
          <p:cNvSpPr/>
          <p:nvPr/>
        </p:nvSpPr>
        <p:spPr>
          <a:xfrm>
            <a:off x="8321040" y="0"/>
            <a:ext cx="3870655" cy="6858000"/>
          </a:xfrm>
          <a:prstGeom prst="rect">
            <a:avLst/>
          </a:prstGeom>
          <a:solidFill>
            <a:srgbClr val="131E31"/>
          </a:solidFill>
          <a:ln>
            <a:solidFill>
              <a:srgbClr val="131E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749808"/>
            <a:ext cx="6858000" cy="274320"/>
          </a:xfrm>
          <a:prstGeom prst="rect">
            <a:avLst/>
          </a:prstGeom>
          <a:noFill/>
        </p:spPr>
        <p:txBody>
          <a:bodyPr wrap="square" lIns="36576" rIns="36576" tIns="18288" bIns="18288">
            <a:spAutoFit/>
          </a:bodyPr>
          <a:lstStyle/>
          <a:p>
            <a:pPr algn="l"/>
            <a:r>
              <a:rPr sz="1100" b="1">
                <a:solidFill>
                  <a:srgbClr val="2FDCC2"/>
                </a:solidFill>
                <a:latin typeface="Aptos"/>
              </a:rPr>
              <a:t>GO-TO-MARKET AUTOMATION  /  AI AGENTS</a:t>
            </a:r>
          </a:p>
        </p:txBody>
      </p:sp>
      <p:sp>
        <p:nvSpPr>
          <p:cNvPr id="4" name="TextBox 3"/>
          <p:cNvSpPr txBox="1"/>
          <p:nvPr/>
        </p:nvSpPr>
        <p:spPr>
          <a:xfrm>
            <a:off x="749808" y="1417320"/>
            <a:ext cx="6949440" cy="1325880"/>
          </a:xfrm>
          <a:prstGeom prst="rect">
            <a:avLst/>
          </a:prstGeom>
          <a:noFill/>
        </p:spPr>
        <p:txBody>
          <a:bodyPr wrap="square" lIns="36576" rIns="36576" tIns="18288" bIns="18288">
            <a:spAutoFit/>
          </a:bodyPr>
          <a:lstStyle/>
          <a:p>
            <a:pPr algn="l"/>
            <a:r>
              <a:rPr sz="3400" b="1">
                <a:solidFill>
                  <a:srgbClr val="F0F6FF"/>
                </a:solidFill>
                <a:latin typeface="Aptos"/>
              </a:rPr>
              <a:t>Vani GTM
Multi-Agent System</a:t>
            </a:r>
          </a:p>
        </p:txBody>
      </p:sp>
      <p:sp>
        <p:nvSpPr>
          <p:cNvPr id="5" name="TextBox 4"/>
          <p:cNvSpPr txBox="1"/>
          <p:nvPr/>
        </p:nvSpPr>
        <p:spPr>
          <a:xfrm>
            <a:off x="786384" y="3108960"/>
            <a:ext cx="6675120" cy="777240"/>
          </a:xfrm>
          <a:prstGeom prst="rect">
            <a:avLst/>
          </a:prstGeom>
          <a:noFill/>
        </p:spPr>
        <p:txBody>
          <a:bodyPr wrap="square" lIns="36576" rIns="36576" tIns="18288" bIns="18288">
            <a:spAutoFit/>
          </a:bodyPr>
          <a:lstStyle/>
          <a:p>
            <a:pPr algn="l"/>
            <a:r>
              <a:rPr sz="1800" b="0">
                <a:solidFill>
                  <a:srgbClr val="A0B3CD"/>
                </a:solidFill>
                <a:latin typeface="Aptos"/>
              </a:rPr>
              <a:t>From business signals to qualified prospects,
personalized outreach, and accountable review.</a:t>
            </a:r>
          </a:p>
        </p:txBody>
      </p:sp>
      <p:sp>
        <p:nvSpPr>
          <p:cNvPr id="6" name="Rounded Rectangle 5"/>
          <p:cNvSpPr/>
          <p:nvPr/>
        </p:nvSpPr>
        <p:spPr>
          <a:xfrm>
            <a:off x="786384" y="4617720"/>
            <a:ext cx="2240280" cy="530352"/>
          </a:xfrm>
          <a:prstGeom prst="roundRect">
            <a:avLst/>
          </a:prstGeom>
          <a:solidFill>
            <a:srgbClr val="2FDCC2"/>
          </a:solidFill>
          <a:ln>
            <a:solidFill>
              <a:srgbClr val="2FDC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4782312"/>
            <a:ext cx="2011680" cy="182880"/>
          </a:xfrm>
          <a:prstGeom prst="rect">
            <a:avLst/>
          </a:prstGeom>
          <a:noFill/>
        </p:spPr>
        <p:txBody>
          <a:bodyPr wrap="square" lIns="36576" rIns="36576" tIns="18288" bIns="18288">
            <a:spAutoFit/>
          </a:bodyPr>
          <a:lstStyle/>
          <a:p>
            <a:pPr algn="ctr"/>
            <a:r>
              <a:rPr sz="1000" b="1">
                <a:solidFill>
                  <a:srgbClr val="0A111F"/>
                </a:solidFill>
                <a:latin typeface="Aptos"/>
              </a:rPr>
              <a:t>ASSIGNMENT SUBMISSION</a:t>
            </a:r>
          </a:p>
        </p:txBody>
      </p:sp>
      <p:sp>
        <p:nvSpPr>
          <p:cNvPr id="8" name="TextBox 7"/>
          <p:cNvSpPr txBox="1"/>
          <p:nvPr/>
        </p:nvSpPr>
        <p:spPr>
          <a:xfrm>
            <a:off x="786384" y="5870448"/>
            <a:ext cx="6766560" cy="256032"/>
          </a:xfrm>
          <a:prstGeom prst="rect">
            <a:avLst/>
          </a:prstGeom>
          <a:noFill/>
        </p:spPr>
        <p:txBody>
          <a:bodyPr wrap="square" lIns="36576" rIns="36576" tIns="18288" bIns="18288">
            <a:spAutoFit/>
          </a:bodyPr>
          <a:lstStyle/>
          <a:p>
            <a:pPr algn="l"/>
            <a:r>
              <a:rPr sz="1100" b="0">
                <a:solidFill>
                  <a:srgbClr val="A0B3CD"/>
                </a:solidFill>
                <a:latin typeface="Aptos"/>
              </a:rPr>
              <a:t>Runnable prototype concept • Four sequential agents</a:t>
            </a:r>
          </a:p>
        </p:txBody>
      </p:sp>
      <p:sp>
        <p:nvSpPr>
          <p:cNvPr id="9" name="Rounded Rectangle 8"/>
          <p:cNvSpPr/>
          <p:nvPr/>
        </p:nvSpPr>
        <p:spPr>
          <a:xfrm>
            <a:off x="8732520" y="1325880"/>
            <a:ext cx="2743200" cy="685800"/>
          </a:xfrm>
          <a:prstGeom prst="roundRect">
            <a:avLst/>
          </a:prstGeom>
          <a:solidFill>
            <a:srgbClr val="19283E"/>
          </a:solidFill>
          <a:ln>
            <a:solidFill>
              <a:srgbClr val="1928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732520" y="1325880"/>
            <a:ext cx="73152" cy="685800"/>
          </a:xfrm>
          <a:prstGeom prst="rect">
            <a:avLst/>
          </a:prstGeom>
          <a:solidFill>
            <a:srgbClr val="2FDCC2"/>
          </a:solidFill>
          <a:ln>
            <a:solidFill>
              <a:srgbClr val="2FDC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79408" y="1527048"/>
            <a:ext cx="2331720" cy="228600"/>
          </a:xfrm>
          <a:prstGeom prst="rect">
            <a:avLst/>
          </a:prstGeom>
          <a:noFill/>
        </p:spPr>
        <p:txBody>
          <a:bodyPr wrap="square" lIns="36576" rIns="36576" tIns="18288" bIns="18288">
            <a:spAutoFit/>
          </a:bodyPr>
          <a:lstStyle/>
          <a:p>
            <a:pPr algn="l"/>
            <a:r>
              <a:rPr sz="1100" b="1">
                <a:solidFill>
                  <a:srgbClr val="F0F6FF"/>
                </a:solidFill>
                <a:latin typeface="Aptos"/>
              </a:rPr>
              <a:t>01  DEMAND SENSING</a:t>
            </a:r>
          </a:p>
        </p:txBody>
      </p:sp>
      <p:sp>
        <p:nvSpPr>
          <p:cNvPr id="12" name="Rounded Rectangle 11"/>
          <p:cNvSpPr/>
          <p:nvPr/>
        </p:nvSpPr>
        <p:spPr>
          <a:xfrm>
            <a:off x="8732520" y="2404872"/>
            <a:ext cx="2743200" cy="685800"/>
          </a:xfrm>
          <a:prstGeom prst="roundRect">
            <a:avLst/>
          </a:prstGeom>
          <a:solidFill>
            <a:srgbClr val="19283E"/>
          </a:solidFill>
          <a:ln>
            <a:solidFill>
              <a:srgbClr val="1928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732520" y="2404872"/>
            <a:ext cx="73152" cy="685800"/>
          </a:xfrm>
          <a:prstGeom prst="rect">
            <a:avLst/>
          </a:prstGeom>
          <a:solidFill>
            <a:srgbClr val="579DFF"/>
          </a:solidFill>
          <a:ln>
            <a:solidFill>
              <a:srgbClr val="579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79408" y="2606040"/>
            <a:ext cx="2331720" cy="228600"/>
          </a:xfrm>
          <a:prstGeom prst="rect">
            <a:avLst/>
          </a:prstGeom>
          <a:noFill/>
        </p:spPr>
        <p:txBody>
          <a:bodyPr wrap="square" lIns="36576" rIns="36576" tIns="18288" bIns="18288">
            <a:spAutoFit/>
          </a:bodyPr>
          <a:lstStyle/>
          <a:p>
            <a:pPr algn="l"/>
            <a:r>
              <a:rPr sz="1100" b="1">
                <a:solidFill>
                  <a:srgbClr val="F0F6FF"/>
                </a:solidFill>
                <a:latin typeface="Aptos"/>
              </a:rPr>
              <a:t>02  CUSTOMER PROFILING</a:t>
            </a:r>
          </a:p>
        </p:txBody>
      </p:sp>
      <p:sp>
        <p:nvSpPr>
          <p:cNvPr id="15" name="Rounded Rectangle 14"/>
          <p:cNvSpPr/>
          <p:nvPr/>
        </p:nvSpPr>
        <p:spPr>
          <a:xfrm>
            <a:off x="8732520" y="3483863"/>
            <a:ext cx="2743200" cy="685800"/>
          </a:xfrm>
          <a:prstGeom prst="roundRect">
            <a:avLst/>
          </a:prstGeom>
          <a:solidFill>
            <a:srgbClr val="19283E"/>
          </a:solidFill>
          <a:ln>
            <a:solidFill>
              <a:srgbClr val="1928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732520" y="3483863"/>
            <a:ext cx="73152" cy="685800"/>
          </a:xfrm>
          <a:prstGeom prst="rect">
            <a:avLst/>
          </a:prstGeom>
          <a:solidFill>
            <a:srgbClr val="B482FF"/>
          </a:solidFill>
          <a:ln>
            <a:solidFill>
              <a:srgbClr val="B48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79408" y="3685031"/>
            <a:ext cx="2331720" cy="228600"/>
          </a:xfrm>
          <a:prstGeom prst="rect">
            <a:avLst/>
          </a:prstGeom>
          <a:noFill/>
        </p:spPr>
        <p:txBody>
          <a:bodyPr wrap="square" lIns="36576" rIns="36576" tIns="18288" bIns="18288">
            <a:spAutoFit/>
          </a:bodyPr>
          <a:lstStyle/>
          <a:p>
            <a:pPr algn="l"/>
            <a:r>
              <a:rPr sz="1100" b="1">
                <a:solidFill>
                  <a:srgbClr val="F0F6FF"/>
                </a:solidFill>
                <a:latin typeface="Aptos"/>
              </a:rPr>
              <a:t>03  OUTBOUND STRATEGY</a:t>
            </a:r>
          </a:p>
        </p:txBody>
      </p:sp>
      <p:sp>
        <p:nvSpPr>
          <p:cNvPr id="18" name="Rounded Rectangle 17"/>
          <p:cNvSpPr/>
          <p:nvPr/>
        </p:nvSpPr>
        <p:spPr>
          <a:xfrm>
            <a:off x="8732520" y="4562856"/>
            <a:ext cx="2743200" cy="685800"/>
          </a:xfrm>
          <a:prstGeom prst="roundRect">
            <a:avLst/>
          </a:prstGeom>
          <a:solidFill>
            <a:srgbClr val="19283E"/>
          </a:solidFill>
          <a:ln>
            <a:solidFill>
              <a:srgbClr val="1928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732520" y="4562856"/>
            <a:ext cx="73152" cy="685800"/>
          </a:xfrm>
          <a:prstGeom prst="rect">
            <a:avLst/>
          </a:prstGeom>
          <a:solidFill>
            <a:srgbClr val="FFBE4B"/>
          </a:solidFill>
          <a:ln>
            <a:solidFill>
              <a:srgbClr val="FFBE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79408" y="4764024"/>
            <a:ext cx="2331720" cy="228600"/>
          </a:xfrm>
          <a:prstGeom prst="rect">
            <a:avLst/>
          </a:prstGeom>
          <a:noFill/>
        </p:spPr>
        <p:txBody>
          <a:bodyPr wrap="square" lIns="36576" rIns="36576" tIns="18288" bIns="18288">
            <a:spAutoFit/>
          </a:bodyPr>
          <a:lstStyle/>
          <a:p>
            <a:pPr algn="l"/>
            <a:r>
              <a:rPr sz="1100" b="1">
                <a:solidFill>
                  <a:srgbClr val="F0F6FF"/>
                </a:solidFill>
                <a:latin typeface="Aptos"/>
              </a:rPr>
              <a:t>04  MANAGING AGENT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11F"/>
        </a:solidFill>
        <a:effectLst/>
      </p:bgPr>
    </p:bg>
    <p:spTree>
      <p:nvGrpSpPr>
        <p:cNvPr id="1" name=""/>
        <p:cNvGrpSpPr/>
        <p:nvPr/>
      </p:nvGrpSpPr>
      <p:grpSpPr/>
      <p:sp>
        <p:nvSpPr>
          <p:cNvPr id="2" name="TextBox 1"/>
          <p:cNvSpPr txBox="1"/>
          <p:nvPr/>
        </p:nvSpPr>
        <p:spPr>
          <a:xfrm>
            <a:off x="594360" y="292608"/>
            <a:ext cx="10972800" cy="457200"/>
          </a:xfrm>
          <a:prstGeom prst="rect">
            <a:avLst/>
          </a:prstGeom>
          <a:noFill/>
        </p:spPr>
        <p:txBody>
          <a:bodyPr wrap="square" lIns="36576" rIns="36576" tIns="18288" bIns="18288">
            <a:spAutoFit/>
          </a:bodyPr>
          <a:lstStyle/>
          <a:p>
            <a:pPr algn="l"/>
            <a:r>
              <a:rPr sz="2600" b="1">
                <a:solidFill>
                  <a:srgbClr val="F0F6FF"/>
                </a:solidFill>
                <a:latin typeface="Aptos"/>
              </a:rPr>
              <a:t>The GTM Problem &amp; Objective</a:t>
            </a:r>
          </a:p>
        </p:txBody>
      </p:sp>
      <p:sp>
        <p:nvSpPr>
          <p:cNvPr id="3" name="TextBox 2"/>
          <p:cNvSpPr txBox="1"/>
          <p:nvPr/>
        </p:nvSpPr>
        <p:spPr>
          <a:xfrm>
            <a:off x="621792" y="832104"/>
            <a:ext cx="10972800" cy="292608"/>
          </a:xfrm>
          <a:prstGeom prst="rect">
            <a:avLst/>
          </a:prstGeom>
          <a:noFill/>
        </p:spPr>
        <p:txBody>
          <a:bodyPr wrap="square" lIns="36576" rIns="36576" tIns="18288" bIns="18288">
            <a:spAutoFit/>
          </a:bodyPr>
          <a:lstStyle/>
          <a:p>
            <a:pPr algn="l"/>
            <a:r>
              <a:rPr sz="1100" b="0">
                <a:solidFill>
                  <a:srgbClr val="A0B3CD"/>
                </a:solidFill>
                <a:latin typeface="Aptos"/>
              </a:rPr>
              <a:t>Build agents directly relevant to Vani and its prospective customers.</a:t>
            </a:r>
          </a:p>
        </p:txBody>
      </p:sp>
      <p:sp>
        <p:nvSpPr>
          <p:cNvPr id="4" name="Rectangle 3"/>
          <p:cNvSpPr/>
          <p:nvPr/>
        </p:nvSpPr>
        <p:spPr>
          <a:xfrm>
            <a:off x="621792" y="1225296"/>
            <a:ext cx="960120" cy="41148"/>
          </a:xfrm>
          <a:prstGeom prst="rect">
            <a:avLst/>
          </a:prstGeom>
          <a:solidFill>
            <a:srgbClr val="2FDCC2"/>
          </a:solidFill>
          <a:ln>
            <a:solidFill>
              <a:srgbClr val="2FDC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6510528"/>
            <a:ext cx="8229600" cy="164592"/>
          </a:xfrm>
          <a:prstGeom prst="rect">
            <a:avLst/>
          </a:prstGeom>
          <a:noFill/>
        </p:spPr>
        <p:txBody>
          <a:bodyPr wrap="square" lIns="36576" rIns="36576" tIns="18288" bIns="18288">
            <a:spAutoFit/>
          </a:bodyPr>
          <a:lstStyle/>
          <a:p>
            <a:pPr algn="l"/>
            <a:r>
              <a:rPr sz="800" b="1">
                <a:solidFill>
                  <a:srgbClr val="A0B3CD"/>
                </a:solidFill>
                <a:latin typeface="Aptos"/>
              </a:rPr>
              <a:t>VANI GTM MULTI-AGENT SYSTEM  •  ASSIGNMENT DEMO</a:t>
            </a:r>
          </a:p>
        </p:txBody>
      </p:sp>
      <p:sp>
        <p:nvSpPr>
          <p:cNvPr id="6" name="TextBox 5"/>
          <p:cNvSpPr txBox="1"/>
          <p:nvPr/>
        </p:nvSpPr>
        <p:spPr>
          <a:xfrm>
            <a:off x="11064240" y="6473952"/>
            <a:ext cx="457200" cy="182880"/>
          </a:xfrm>
          <a:prstGeom prst="rect">
            <a:avLst/>
          </a:prstGeom>
          <a:noFill/>
        </p:spPr>
        <p:txBody>
          <a:bodyPr wrap="square" lIns="36576" rIns="36576" tIns="18288" bIns="18288">
            <a:spAutoFit/>
          </a:bodyPr>
          <a:lstStyle/>
          <a:p>
            <a:pPr algn="r"/>
            <a:r>
              <a:rPr sz="900" b="1">
                <a:solidFill>
                  <a:srgbClr val="A0B3CD"/>
                </a:solidFill>
                <a:latin typeface="Aptos"/>
              </a:rPr>
              <a:t>02</a:t>
            </a:r>
          </a:p>
        </p:txBody>
      </p:sp>
      <p:sp>
        <p:nvSpPr>
          <p:cNvPr id="7" name="Rounded Rectangle 6"/>
          <p:cNvSpPr/>
          <p:nvPr/>
        </p:nvSpPr>
        <p:spPr>
          <a:xfrm>
            <a:off x="685800" y="1554480"/>
            <a:ext cx="3520440" cy="3566160"/>
          </a:xfrm>
          <a:prstGeom prst="roundRect">
            <a:avLst/>
          </a:prstGeom>
          <a:solidFill>
            <a:srgbClr val="131E31"/>
          </a:solidFill>
          <a:ln>
            <a:solidFill>
              <a:srgbClr val="1928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1554480"/>
            <a:ext cx="64008" cy="3566160"/>
          </a:xfrm>
          <a:prstGeom prst="rect">
            <a:avLst/>
          </a:prstGeom>
          <a:solidFill>
            <a:srgbClr val="FF6E82"/>
          </a:solidFill>
          <a:ln>
            <a:solidFill>
              <a:srgbClr val="FF6E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1719072"/>
            <a:ext cx="3154680" cy="347472"/>
          </a:xfrm>
          <a:prstGeom prst="rect">
            <a:avLst/>
          </a:prstGeom>
          <a:noFill/>
        </p:spPr>
        <p:txBody>
          <a:bodyPr wrap="square" lIns="36576" rIns="36576" tIns="18288" bIns="18288">
            <a:spAutoFit/>
          </a:bodyPr>
          <a:lstStyle/>
          <a:p>
            <a:pPr algn="l"/>
            <a:r>
              <a:rPr sz="1600" b="1">
                <a:solidFill>
                  <a:srgbClr val="F0F6FF"/>
                </a:solidFill>
                <a:latin typeface="Aptos"/>
              </a:rPr>
              <a:t>Current GTM challenge</a:t>
            </a:r>
          </a:p>
        </p:txBody>
      </p:sp>
      <p:sp>
        <p:nvSpPr>
          <p:cNvPr id="10" name="TextBox 9"/>
          <p:cNvSpPr txBox="1"/>
          <p:nvPr/>
        </p:nvSpPr>
        <p:spPr>
          <a:xfrm>
            <a:off x="886968" y="2194560"/>
            <a:ext cx="3136392" cy="2816352"/>
          </a:xfrm>
          <a:prstGeom prst="rect">
            <a:avLst/>
          </a:prstGeom>
          <a:noFill/>
        </p:spPr>
        <p:txBody>
          <a:bodyPr wrap="square" lIns="27432" rIns="27432" tIns="18288">
            <a:spAutoFit/>
          </a:bodyPr>
          <a:lstStyle/>
          <a:p>
            <a:pPr>
              <a:spcAft>
                <a:spcPts val="700"/>
              </a:spcAft>
              <a:defRPr sz="1400">
                <a:solidFill>
                  <a:srgbClr val="A0B3CD"/>
                </a:solidFill>
                <a:latin typeface="Aptos"/>
              </a:defRPr>
            </a:pPr>
            <a:r>
              <a:t>•  Identify companies with a plausible need for communication coaching</a:t>
            </a:r>
          </a:p>
          <a:p>
            <a:pPr>
              <a:spcAft>
                <a:spcPts val="700"/>
              </a:spcAft>
              <a:defRPr sz="1400">
                <a:solidFill>
                  <a:srgbClr val="A0B3CD"/>
                </a:solidFill>
                <a:latin typeface="Aptos"/>
              </a:defRPr>
            </a:pPr>
            <a:r>
              <a:t>•  Prioritize accounts and buying personas</a:t>
            </a:r>
          </a:p>
          <a:p>
            <a:pPr>
              <a:spcAft>
                <a:spcPts val="700"/>
              </a:spcAft>
              <a:defRPr sz="1400">
                <a:solidFill>
                  <a:srgbClr val="A0B3CD"/>
                </a:solidFill>
                <a:latin typeface="Aptos"/>
              </a:defRPr>
            </a:pPr>
            <a:r>
              <a:t>•  Personalize outreach to a real business signal</a:t>
            </a:r>
          </a:p>
          <a:p>
            <a:pPr>
              <a:spcAft>
                <a:spcPts val="700"/>
              </a:spcAft>
              <a:defRPr sz="1400">
                <a:solidFill>
                  <a:srgbClr val="A0B3CD"/>
                </a:solidFill>
                <a:latin typeface="Aptos"/>
              </a:defRPr>
            </a:pPr>
            <a:r>
              <a:t>•  Coordinate actions while protecting quality</a:t>
            </a:r>
          </a:p>
        </p:txBody>
      </p:sp>
      <p:sp>
        <p:nvSpPr>
          <p:cNvPr id="11" name="Rounded Rectangle 10"/>
          <p:cNvSpPr/>
          <p:nvPr/>
        </p:nvSpPr>
        <p:spPr>
          <a:xfrm>
            <a:off x="4343400" y="1554480"/>
            <a:ext cx="3520440" cy="3566160"/>
          </a:xfrm>
          <a:prstGeom prst="roundRect">
            <a:avLst/>
          </a:prstGeom>
          <a:solidFill>
            <a:srgbClr val="131E31"/>
          </a:solidFill>
          <a:ln>
            <a:solidFill>
              <a:srgbClr val="1928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43400" y="1554480"/>
            <a:ext cx="64008" cy="3566160"/>
          </a:xfrm>
          <a:prstGeom prst="rect">
            <a:avLst/>
          </a:prstGeom>
          <a:solidFill>
            <a:srgbClr val="2FDCC2"/>
          </a:solidFill>
          <a:ln>
            <a:solidFill>
              <a:srgbClr val="2FDC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44568" y="1719072"/>
            <a:ext cx="3154680" cy="347472"/>
          </a:xfrm>
          <a:prstGeom prst="rect">
            <a:avLst/>
          </a:prstGeom>
          <a:noFill/>
        </p:spPr>
        <p:txBody>
          <a:bodyPr wrap="square" lIns="36576" rIns="36576" tIns="18288" bIns="18288">
            <a:spAutoFit/>
          </a:bodyPr>
          <a:lstStyle/>
          <a:p>
            <a:pPr algn="l"/>
            <a:r>
              <a:rPr sz="1600" b="1">
                <a:solidFill>
                  <a:srgbClr val="F0F6FF"/>
                </a:solidFill>
                <a:latin typeface="Aptos"/>
              </a:rPr>
              <a:t>Vani-focused objective</a:t>
            </a:r>
          </a:p>
        </p:txBody>
      </p:sp>
      <p:sp>
        <p:nvSpPr>
          <p:cNvPr id="14" name="TextBox 13"/>
          <p:cNvSpPr txBox="1"/>
          <p:nvPr/>
        </p:nvSpPr>
        <p:spPr>
          <a:xfrm>
            <a:off x="4544568" y="2194560"/>
            <a:ext cx="3136392" cy="2816352"/>
          </a:xfrm>
          <a:prstGeom prst="rect">
            <a:avLst/>
          </a:prstGeom>
          <a:noFill/>
        </p:spPr>
        <p:txBody>
          <a:bodyPr wrap="square" lIns="27432" rIns="27432" tIns="18288">
            <a:spAutoFit/>
          </a:bodyPr>
          <a:lstStyle/>
          <a:p>
            <a:pPr>
              <a:spcAft>
                <a:spcPts val="700"/>
              </a:spcAft>
              <a:defRPr sz="1400">
                <a:solidFill>
                  <a:srgbClr val="A0B3CD"/>
                </a:solidFill>
                <a:latin typeface="Aptos"/>
              </a:defRPr>
            </a:pPr>
            <a:r>
              <a:t>•  Find signals around customer-facing teams and workforce development</a:t>
            </a:r>
          </a:p>
          <a:p>
            <a:pPr>
              <a:spcAft>
                <a:spcPts val="700"/>
              </a:spcAft>
              <a:defRPr sz="1400">
                <a:solidFill>
                  <a:srgbClr val="A0B3CD"/>
                </a:solidFill>
                <a:latin typeface="Aptos"/>
              </a:defRPr>
            </a:pPr>
            <a:r>
              <a:t>•  Connect signals to communication practice and coaching</a:t>
            </a:r>
          </a:p>
          <a:p>
            <a:pPr>
              <a:spcAft>
                <a:spcPts val="700"/>
              </a:spcAft>
              <a:defRPr sz="1400">
                <a:solidFill>
                  <a:srgbClr val="A0B3CD"/>
                </a:solidFill>
                <a:latin typeface="Aptos"/>
              </a:defRPr>
            </a:pPr>
            <a:r>
              <a:t>•  Draft relevant, evidence-linked outreach</a:t>
            </a:r>
          </a:p>
          <a:p>
            <a:pPr>
              <a:spcAft>
                <a:spcPts val="700"/>
              </a:spcAft>
              <a:defRPr sz="1400">
                <a:solidFill>
                  <a:srgbClr val="A0B3CD"/>
                </a:solidFill>
                <a:latin typeface="Aptos"/>
              </a:defRPr>
            </a:pPr>
            <a:r>
              <a:t>•  Route uncertain cases to human review</a:t>
            </a:r>
          </a:p>
        </p:txBody>
      </p:sp>
      <p:sp>
        <p:nvSpPr>
          <p:cNvPr id="15" name="Rounded Rectangle 14"/>
          <p:cNvSpPr/>
          <p:nvPr/>
        </p:nvSpPr>
        <p:spPr>
          <a:xfrm>
            <a:off x="8001000" y="1554480"/>
            <a:ext cx="3520440" cy="3566160"/>
          </a:xfrm>
          <a:prstGeom prst="roundRect">
            <a:avLst/>
          </a:prstGeom>
          <a:solidFill>
            <a:srgbClr val="131E31"/>
          </a:solidFill>
          <a:ln>
            <a:solidFill>
              <a:srgbClr val="1928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01000" y="1554480"/>
            <a:ext cx="64008" cy="3566160"/>
          </a:xfrm>
          <a:prstGeom prst="rect">
            <a:avLst/>
          </a:prstGeom>
          <a:solidFill>
            <a:srgbClr val="579DFF"/>
          </a:solidFill>
          <a:ln>
            <a:solidFill>
              <a:srgbClr val="579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02168" y="1719072"/>
            <a:ext cx="3154680" cy="347472"/>
          </a:xfrm>
          <a:prstGeom prst="rect">
            <a:avLst/>
          </a:prstGeom>
          <a:noFill/>
        </p:spPr>
        <p:txBody>
          <a:bodyPr wrap="square" lIns="36576" rIns="36576" tIns="18288" bIns="18288">
            <a:spAutoFit/>
          </a:bodyPr>
          <a:lstStyle/>
          <a:p>
            <a:pPr algn="l"/>
            <a:r>
              <a:rPr sz="1600" b="1">
                <a:solidFill>
                  <a:srgbClr val="F0F6FF"/>
                </a:solidFill>
                <a:latin typeface="Aptos"/>
              </a:rPr>
              <a:t>Expected outcome</a:t>
            </a:r>
          </a:p>
        </p:txBody>
      </p:sp>
      <p:sp>
        <p:nvSpPr>
          <p:cNvPr id="18" name="TextBox 17"/>
          <p:cNvSpPr txBox="1"/>
          <p:nvPr/>
        </p:nvSpPr>
        <p:spPr>
          <a:xfrm>
            <a:off x="8202168" y="2194560"/>
            <a:ext cx="3136392" cy="2816352"/>
          </a:xfrm>
          <a:prstGeom prst="rect">
            <a:avLst/>
          </a:prstGeom>
          <a:noFill/>
        </p:spPr>
        <p:txBody>
          <a:bodyPr wrap="square" lIns="27432" rIns="27432" tIns="18288">
            <a:spAutoFit/>
          </a:bodyPr>
          <a:lstStyle/>
          <a:p>
            <a:pPr>
              <a:spcAft>
                <a:spcPts val="700"/>
              </a:spcAft>
              <a:defRPr sz="1400">
                <a:solidFill>
                  <a:srgbClr val="A0B3CD"/>
                </a:solidFill>
                <a:latin typeface="Aptos"/>
              </a:defRPr>
            </a:pPr>
            <a:r>
              <a:t>•  Ranked account list</a:t>
            </a:r>
          </a:p>
          <a:p>
            <a:pPr>
              <a:spcAft>
                <a:spcPts val="700"/>
              </a:spcAft>
              <a:defRPr sz="1400">
                <a:solidFill>
                  <a:srgbClr val="A0B3CD"/>
                </a:solidFill>
                <a:latin typeface="Aptos"/>
              </a:defRPr>
            </a:pPr>
            <a:r>
              <a:t>•  Transparent ICP scores and rationale</a:t>
            </a:r>
          </a:p>
          <a:p>
            <a:pPr>
              <a:spcAft>
                <a:spcPts val="700"/>
              </a:spcAft>
              <a:defRPr sz="1400">
                <a:solidFill>
                  <a:srgbClr val="A0B3CD"/>
                </a:solidFill>
                <a:latin typeface="Aptos"/>
              </a:defRPr>
            </a:pPr>
            <a:r>
              <a:t>•  Personalized message drafts</a:t>
            </a:r>
          </a:p>
          <a:p>
            <a:pPr>
              <a:spcAft>
                <a:spcPts val="700"/>
              </a:spcAft>
              <a:defRPr sz="1400">
                <a:solidFill>
                  <a:srgbClr val="A0B3CD"/>
                </a:solidFill>
                <a:latin typeface="Aptos"/>
              </a:defRPr>
            </a:pPr>
            <a:r>
              <a:t>•  Clear next action and audit trail</a:t>
            </a:r>
          </a:p>
        </p:txBody>
      </p:sp>
      <p:sp>
        <p:nvSpPr>
          <p:cNvPr id="19" name="TextBox 18"/>
          <p:cNvSpPr txBox="1"/>
          <p:nvPr/>
        </p:nvSpPr>
        <p:spPr>
          <a:xfrm>
            <a:off x="749808" y="5532120"/>
            <a:ext cx="10789920" cy="411480"/>
          </a:xfrm>
          <a:prstGeom prst="rect">
            <a:avLst/>
          </a:prstGeom>
          <a:noFill/>
        </p:spPr>
        <p:txBody>
          <a:bodyPr wrap="square" lIns="36576" rIns="36576" tIns="18288" bIns="18288">
            <a:spAutoFit/>
          </a:bodyPr>
          <a:lstStyle/>
          <a:p>
            <a:pPr algn="l"/>
            <a:r>
              <a:rPr sz="1500" b="1">
                <a:solidFill>
                  <a:srgbClr val="2FDCC2"/>
                </a:solidFill>
                <a:latin typeface="Aptos"/>
              </a:rPr>
              <a:t>Design principle: demonstrate Vani-specific GTM work—not an unrelated generic agent.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11F"/>
        </a:solidFill>
        <a:effectLst/>
      </p:bgPr>
    </p:bg>
    <p:spTree>
      <p:nvGrpSpPr>
        <p:cNvPr id="1" name=""/>
        <p:cNvGrpSpPr/>
        <p:nvPr/>
      </p:nvGrpSpPr>
      <p:grpSpPr/>
      <p:sp>
        <p:nvSpPr>
          <p:cNvPr id="2" name="TextBox 1"/>
          <p:cNvSpPr txBox="1"/>
          <p:nvPr/>
        </p:nvSpPr>
        <p:spPr>
          <a:xfrm>
            <a:off x="594360" y="292608"/>
            <a:ext cx="10972800" cy="457200"/>
          </a:xfrm>
          <a:prstGeom prst="rect">
            <a:avLst/>
          </a:prstGeom>
          <a:noFill/>
        </p:spPr>
        <p:txBody>
          <a:bodyPr wrap="square" lIns="36576" rIns="36576" tIns="18288" bIns="18288">
            <a:spAutoFit/>
          </a:bodyPr>
          <a:lstStyle/>
          <a:p>
            <a:pPr algn="l"/>
            <a:r>
              <a:rPr sz="2600" b="1">
                <a:solidFill>
                  <a:srgbClr val="F0F6FF"/>
                </a:solidFill>
                <a:latin typeface="Aptos"/>
              </a:rPr>
              <a:t>Four-Agent Architecture</a:t>
            </a:r>
          </a:p>
        </p:txBody>
      </p:sp>
      <p:sp>
        <p:nvSpPr>
          <p:cNvPr id="3" name="TextBox 2"/>
          <p:cNvSpPr txBox="1"/>
          <p:nvPr/>
        </p:nvSpPr>
        <p:spPr>
          <a:xfrm>
            <a:off x="621792" y="832104"/>
            <a:ext cx="10972800" cy="292608"/>
          </a:xfrm>
          <a:prstGeom prst="rect">
            <a:avLst/>
          </a:prstGeom>
          <a:noFill/>
        </p:spPr>
        <p:txBody>
          <a:bodyPr wrap="square" lIns="36576" rIns="36576" tIns="18288" bIns="18288">
            <a:spAutoFit/>
          </a:bodyPr>
          <a:lstStyle/>
          <a:p>
            <a:pPr algn="l"/>
            <a:r>
              <a:rPr sz="1100" b="0">
                <a:solidFill>
                  <a:srgbClr val="A0B3CD"/>
                </a:solidFill>
                <a:latin typeface="Aptos"/>
              </a:rPr>
              <a:t>Sequential workflow with a shared record contract and a quality gate.</a:t>
            </a:r>
          </a:p>
        </p:txBody>
      </p:sp>
      <p:sp>
        <p:nvSpPr>
          <p:cNvPr id="4" name="Rectangle 3"/>
          <p:cNvSpPr/>
          <p:nvPr/>
        </p:nvSpPr>
        <p:spPr>
          <a:xfrm>
            <a:off x="621792" y="1225296"/>
            <a:ext cx="960120" cy="41148"/>
          </a:xfrm>
          <a:prstGeom prst="rect">
            <a:avLst/>
          </a:prstGeom>
          <a:solidFill>
            <a:srgbClr val="2FDCC2"/>
          </a:solidFill>
          <a:ln>
            <a:solidFill>
              <a:srgbClr val="2FDC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6510528"/>
            <a:ext cx="8229600" cy="164592"/>
          </a:xfrm>
          <a:prstGeom prst="rect">
            <a:avLst/>
          </a:prstGeom>
          <a:noFill/>
        </p:spPr>
        <p:txBody>
          <a:bodyPr wrap="square" lIns="36576" rIns="36576" tIns="18288" bIns="18288">
            <a:spAutoFit/>
          </a:bodyPr>
          <a:lstStyle/>
          <a:p>
            <a:pPr algn="l"/>
            <a:r>
              <a:rPr sz="800" b="1">
                <a:solidFill>
                  <a:srgbClr val="A0B3CD"/>
                </a:solidFill>
                <a:latin typeface="Aptos"/>
              </a:rPr>
              <a:t>VANI GTM MULTI-AGENT SYSTEM  •  ASSIGNMENT DEMO</a:t>
            </a:r>
          </a:p>
        </p:txBody>
      </p:sp>
      <p:sp>
        <p:nvSpPr>
          <p:cNvPr id="6" name="TextBox 5"/>
          <p:cNvSpPr txBox="1"/>
          <p:nvPr/>
        </p:nvSpPr>
        <p:spPr>
          <a:xfrm>
            <a:off x="11064240" y="6473952"/>
            <a:ext cx="457200" cy="182880"/>
          </a:xfrm>
          <a:prstGeom prst="rect">
            <a:avLst/>
          </a:prstGeom>
          <a:noFill/>
        </p:spPr>
        <p:txBody>
          <a:bodyPr wrap="square" lIns="36576" rIns="36576" tIns="18288" bIns="18288">
            <a:spAutoFit/>
          </a:bodyPr>
          <a:lstStyle/>
          <a:p>
            <a:pPr algn="r"/>
            <a:r>
              <a:rPr sz="900" b="1">
                <a:solidFill>
                  <a:srgbClr val="A0B3CD"/>
                </a:solidFill>
                <a:latin typeface="Aptos"/>
              </a:rPr>
              <a:t>03</a:t>
            </a:r>
          </a:p>
        </p:txBody>
      </p:sp>
      <p:sp>
        <p:nvSpPr>
          <p:cNvPr id="7" name="Rounded Rectangle 6"/>
          <p:cNvSpPr/>
          <p:nvPr/>
        </p:nvSpPr>
        <p:spPr>
          <a:xfrm>
            <a:off x="658368" y="2011680"/>
            <a:ext cx="2240280" cy="2240280"/>
          </a:xfrm>
          <a:prstGeom prst="roundRect">
            <a:avLst/>
          </a:prstGeom>
          <a:solidFill>
            <a:srgbClr val="131E31"/>
          </a:solidFill>
          <a:ln>
            <a:solidFill>
              <a:srgbClr val="1928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2011680"/>
            <a:ext cx="2240280" cy="73152"/>
          </a:xfrm>
          <a:prstGeom prst="rect">
            <a:avLst/>
          </a:prstGeom>
          <a:solidFill>
            <a:srgbClr val="2FDCC2"/>
          </a:solidFill>
          <a:ln>
            <a:solidFill>
              <a:srgbClr val="2FDC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2286000"/>
            <a:ext cx="1965960" cy="640080"/>
          </a:xfrm>
          <a:prstGeom prst="rect">
            <a:avLst/>
          </a:prstGeom>
          <a:noFill/>
        </p:spPr>
        <p:txBody>
          <a:bodyPr wrap="square" lIns="36576" rIns="36576" tIns="18288" bIns="18288">
            <a:spAutoFit/>
          </a:bodyPr>
          <a:lstStyle/>
          <a:p>
            <a:pPr algn="ctr"/>
            <a:r>
              <a:rPr sz="1700" b="1">
                <a:solidFill>
                  <a:srgbClr val="F0F6FF"/>
                </a:solidFill>
                <a:latin typeface="Aptos"/>
              </a:rPr>
              <a:t>1. Demand
Sensing</a:t>
            </a:r>
          </a:p>
        </p:txBody>
      </p:sp>
      <p:sp>
        <p:nvSpPr>
          <p:cNvPr id="10" name="TextBox 9"/>
          <p:cNvSpPr txBox="1"/>
          <p:nvPr/>
        </p:nvSpPr>
        <p:spPr>
          <a:xfrm>
            <a:off x="795528" y="3108960"/>
            <a:ext cx="1965960" cy="731520"/>
          </a:xfrm>
          <a:prstGeom prst="rect">
            <a:avLst/>
          </a:prstGeom>
          <a:noFill/>
        </p:spPr>
        <p:txBody>
          <a:bodyPr wrap="square" lIns="36576" rIns="36576" tIns="18288" bIns="18288">
            <a:spAutoFit/>
          </a:bodyPr>
          <a:lstStyle/>
          <a:p>
            <a:pPr algn="ctr"/>
            <a:r>
              <a:rPr sz="1200" b="0">
                <a:solidFill>
                  <a:srgbClr val="A0B3CD"/>
                </a:solidFill>
                <a:latin typeface="Aptos"/>
              </a:rPr>
              <a:t>Signals &amp; triggers
Source + evidence
Confidence</a:t>
            </a:r>
          </a:p>
        </p:txBody>
      </p:sp>
      <p:sp>
        <p:nvSpPr>
          <p:cNvPr id="11" name="Rounded Rectangle 10"/>
          <p:cNvSpPr/>
          <p:nvPr/>
        </p:nvSpPr>
        <p:spPr>
          <a:xfrm>
            <a:off x="3520440" y="2011680"/>
            <a:ext cx="2240280" cy="2240280"/>
          </a:xfrm>
          <a:prstGeom prst="roundRect">
            <a:avLst/>
          </a:prstGeom>
          <a:solidFill>
            <a:srgbClr val="131E31"/>
          </a:solidFill>
          <a:ln>
            <a:solidFill>
              <a:srgbClr val="1928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520440" y="2011680"/>
            <a:ext cx="2240280" cy="73152"/>
          </a:xfrm>
          <a:prstGeom prst="rect">
            <a:avLst/>
          </a:prstGeom>
          <a:solidFill>
            <a:srgbClr val="579DFF"/>
          </a:solidFill>
          <a:ln>
            <a:solidFill>
              <a:srgbClr val="579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0" y="2286000"/>
            <a:ext cx="1965960" cy="640080"/>
          </a:xfrm>
          <a:prstGeom prst="rect">
            <a:avLst/>
          </a:prstGeom>
          <a:noFill/>
        </p:spPr>
        <p:txBody>
          <a:bodyPr wrap="square" lIns="36576" rIns="36576" tIns="18288" bIns="18288">
            <a:spAutoFit/>
          </a:bodyPr>
          <a:lstStyle/>
          <a:p>
            <a:pPr algn="ctr"/>
            <a:r>
              <a:rPr sz="1700" b="1">
                <a:solidFill>
                  <a:srgbClr val="F0F6FF"/>
                </a:solidFill>
                <a:latin typeface="Aptos"/>
              </a:rPr>
              <a:t>2. Customer
Profiling</a:t>
            </a:r>
          </a:p>
        </p:txBody>
      </p:sp>
      <p:sp>
        <p:nvSpPr>
          <p:cNvPr id="14" name="TextBox 13"/>
          <p:cNvSpPr txBox="1"/>
          <p:nvPr/>
        </p:nvSpPr>
        <p:spPr>
          <a:xfrm>
            <a:off x="3657600" y="3108960"/>
            <a:ext cx="1965960" cy="731520"/>
          </a:xfrm>
          <a:prstGeom prst="rect">
            <a:avLst/>
          </a:prstGeom>
          <a:noFill/>
        </p:spPr>
        <p:txBody>
          <a:bodyPr wrap="square" lIns="36576" rIns="36576" tIns="18288" bIns="18288">
            <a:spAutoFit/>
          </a:bodyPr>
          <a:lstStyle/>
          <a:p>
            <a:pPr algn="ctr"/>
            <a:r>
              <a:rPr sz="1200" b="0">
                <a:solidFill>
                  <a:srgbClr val="A0B3CD"/>
                </a:solidFill>
                <a:latin typeface="Aptos"/>
              </a:rPr>
              <a:t>ICP score + rationale
Persona hypotheses
Use-case fit</a:t>
            </a:r>
          </a:p>
        </p:txBody>
      </p:sp>
      <p:sp>
        <p:nvSpPr>
          <p:cNvPr id="15" name="Rounded Rectangle 14"/>
          <p:cNvSpPr/>
          <p:nvPr/>
        </p:nvSpPr>
        <p:spPr>
          <a:xfrm>
            <a:off x="6382512" y="2011680"/>
            <a:ext cx="2240280" cy="2240280"/>
          </a:xfrm>
          <a:prstGeom prst="roundRect">
            <a:avLst/>
          </a:prstGeom>
          <a:solidFill>
            <a:srgbClr val="131E31"/>
          </a:solidFill>
          <a:ln>
            <a:solidFill>
              <a:srgbClr val="1928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382512" y="2011680"/>
            <a:ext cx="2240280" cy="73152"/>
          </a:xfrm>
          <a:prstGeom prst="rect">
            <a:avLst/>
          </a:prstGeom>
          <a:solidFill>
            <a:srgbClr val="B482FF"/>
          </a:solidFill>
          <a:ln>
            <a:solidFill>
              <a:srgbClr val="B48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19672" y="2286000"/>
            <a:ext cx="1965960" cy="640080"/>
          </a:xfrm>
          <a:prstGeom prst="rect">
            <a:avLst/>
          </a:prstGeom>
          <a:noFill/>
        </p:spPr>
        <p:txBody>
          <a:bodyPr wrap="square" lIns="36576" rIns="36576" tIns="18288" bIns="18288">
            <a:spAutoFit/>
          </a:bodyPr>
          <a:lstStyle/>
          <a:p>
            <a:pPr algn="ctr"/>
            <a:r>
              <a:rPr sz="1700" b="1">
                <a:solidFill>
                  <a:srgbClr val="F0F6FF"/>
                </a:solidFill>
                <a:latin typeface="Aptos"/>
              </a:rPr>
              <a:t>3. Outbound
Strategy</a:t>
            </a:r>
          </a:p>
        </p:txBody>
      </p:sp>
      <p:sp>
        <p:nvSpPr>
          <p:cNvPr id="18" name="TextBox 17"/>
          <p:cNvSpPr txBox="1"/>
          <p:nvPr/>
        </p:nvSpPr>
        <p:spPr>
          <a:xfrm>
            <a:off x="6519672" y="3108960"/>
            <a:ext cx="1965960" cy="731520"/>
          </a:xfrm>
          <a:prstGeom prst="rect">
            <a:avLst/>
          </a:prstGeom>
          <a:noFill/>
        </p:spPr>
        <p:txBody>
          <a:bodyPr wrap="square" lIns="36576" rIns="36576" tIns="18288" bIns="18288">
            <a:spAutoFit/>
          </a:bodyPr>
          <a:lstStyle/>
          <a:p>
            <a:pPr algn="ctr"/>
            <a:r>
              <a:rPr sz="1200" b="0">
                <a:solidFill>
                  <a:srgbClr val="A0B3CD"/>
                </a:solidFill>
                <a:latin typeface="Aptos"/>
              </a:rPr>
              <a:t>Personalized email
Evidence-based pitch
Follow-up plan</a:t>
            </a:r>
          </a:p>
        </p:txBody>
      </p:sp>
      <p:sp>
        <p:nvSpPr>
          <p:cNvPr id="19" name="Rounded Rectangle 18"/>
          <p:cNvSpPr/>
          <p:nvPr/>
        </p:nvSpPr>
        <p:spPr>
          <a:xfrm>
            <a:off x="9244584" y="2011680"/>
            <a:ext cx="2240280" cy="2240280"/>
          </a:xfrm>
          <a:prstGeom prst="roundRect">
            <a:avLst/>
          </a:prstGeom>
          <a:solidFill>
            <a:srgbClr val="131E31"/>
          </a:solidFill>
          <a:ln>
            <a:solidFill>
              <a:srgbClr val="1928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244584" y="2011680"/>
            <a:ext cx="2240280" cy="73152"/>
          </a:xfrm>
          <a:prstGeom prst="rect">
            <a:avLst/>
          </a:prstGeom>
          <a:solidFill>
            <a:srgbClr val="FFBE4B"/>
          </a:solidFill>
          <a:ln>
            <a:solidFill>
              <a:srgbClr val="FFBE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381744" y="2286000"/>
            <a:ext cx="1965960" cy="640080"/>
          </a:xfrm>
          <a:prstGeom prst="rect">
            <a:avLst/>
          </a:prstGeom>
          <a:noFill/>
        </p:spPr>
        <p:txBody>
          <a:bodyPr wrap="square" lIns="36576" rIns="36576" tIns="18288" bIns="18288">
            <a:spAutoFit/>
          </a:bodyPr>
          <a:lstStyle/>
          <a:p>
            <a:pPr algn="ctr"/>
            <a:r>
              <a:rPr sz="1700" b="1">
                <a:solidFill>
                  <a:srgbClr val="F0F6FF"/>
                </a:solidFill>
                <a:latin typeface="Aptos"/>
              </a:rPr>
              <a:t>4. Managing
Agent</a:t>
            </a:r>
          </a:p>
        </p:txBody>
      </p:sp>
      <p:sp>
        <p:nvSpPr>
          <p:cNvPr id="22" name="TextBox 21"/>
          <p:cNvSpPr txBox="1"/>
          <p:nvPr/>
        </p:nvSpPr>
        <p:spPr>
          <a:xfrm>
            <a:off x="9381744" y="3108960"/>
            <a:ext cx="1965960" cy="731520"/>
          </a:xfrm>
          <a:prstGeom prst="rect">
            <a:avLst/>
          </a:prstGeom>
          <a:noFill/>
        </p:spPr>
        <p:txBody>
          <a:bodyPr wrap="square" lIns="36576" rIns="36576" tIns="18288" bIns="18288">
            <a:spAutoFit/>
          </a:bodyPr>
          <a:lstStyle/>
          <a:p>
            <a:pPr algn="ctr"/>
            <a:r>
              <a:rPr sz="1200" b="0">
                <a:solidFill>
                  <a:srgbClr val="A0B3CD"/>
                </a:solidFill>
                <a:latin typeface="Aptos"/>
              </a:rPr>
              <a:t>Quality checks
Review decision
Final report</a:t>
            </a:r>
          </a:p>
        </p:txBody>
      </p:sp>
      <p:sp>
        <p:nvSpPr>
          <p:cNvPr id="23" name="TextBox 22"/>
          <p:cNvSpPr txBox="1"/>
          <p:nvPr/>
        </p:nvSpPr>
        <p:spPr>
          <a:xfrm>
            <a:off x="2953512" y="2788920"/>
            <a:ext cx="438912" cy="320040"/>
          </a:xfrm>
          <a:prstGeom prst="rect">
            <a:avLst/>
          </a:prstGeom>
          <a:noFill/>
        </p:spPr>
        <p:txBody>
          <a:bodyPr wrap="square" lIns="36576" rIns="36576" tIns="18288" bIns="18288">
            <a:spAutoFit/>
          </a:bodyPr>
          <a:lstStyle/>
          <a:p>
            <a:pPr algn="ctr"/>
            <a:r>
              <a:rPr sz="2500" b="1">
                <a:solidFill>
                  <a:srgbClr val="2FDCC2"/>
                </a:solidFill>
                <a:latin typeface="Aptos"/>
              </a:rPr>
              <a:t>→</a:t>
            </a:r>
          </a:p>
        </p:txBody>
      </p:sp>
      <p:sp>
        <p:nvSpPr>
          <p:cNvPr id="24" name="TextBox 23"/>
          <p:cNvSpPr txBox="1"/>
          <p:nvPr/>
        </p:nvSpPr>
        <p:spPr>
          <a:xfrm>
            <a:off x="5815584" y="2788920"/>
            <a:ext cx="438912" cy="320040"/>
          </a:xfrm>
          <a:prstGeom prst="rect">
            <a:avLst/>
          </a:prstGeom>
          <a:noFill/>
        </p:spPr>
        <p:txBody>
          <a:bodyPr wrap="square" lIns="36576" rIns="36576" tIns="18288" bIns="18288">
            <a:spAutoFit/>
          </a:bodyPr>
          <a:lstStyle/>
          <a:p>
            <a:pPr algn="ctr"/>
            <a:r>
              <a:rPr sz="2500" b="1">
                <a:solidFill>
                  <a:srgbClr val="2FDCC2"/>
                </a:solidFill>
                <a:latin typeface="Aptos"/>
              </a:rPr>
              <a:t>→</a:t>
            </a:r>
          </a:p>
        </p:txBody>
      </p:sp>
      <p:sp>
        <p:nvSpPr>
          <p:cNvPr id="25" name="TextBox 24"/>
          <p:cNvSpPr txBox="1"/>
          <p:nvPr/>
        </p:nvSpPr>
        <p:spPr>
          <a:xfrm>
            <a:off x="8677656" y="2788920"/>
            <a:ext cx="438912" cy="320040"/>
          </a:xfrm>
          <a:prstGeom prst="rect">
            <a:avLst/>
          </a:prstGeom>
          <a:noFill/>
        </p:spPr>
        <p:txBody>
          <a:bodyPr wrap="square" lIns="36576" rIns="36576" tIns="18288" bIns="18288">
            <a:spAutoFit/>
          </a:bodyPr>
          <a:lstStyle/>
          <a:p>
            <a:pPr algn="ctr"/>
            <a:r>
              <a:rPr sz="2500" b="1">
                <a:solidFill>
                  <a:srgbClr val="2FDCC2"/>
                </a:solidFill>
                <a:latin typeface="Aptos"/>
              </a:rPr>
              <a:t>→</a:t>
            </a:r>
          </a:p>
        </p:txBody>
      </p:sp>
      <p:sp>
        <p:nvSpPr>
          <p:cNvPr id="26" name="Rounded Rectangle 25"/>
          <p:cNvSpPr/>
          <p:nvPr/>
        </p:nvSpPr>
        <p:spPr>
          <a:xfrm>
            <a:off x="1828800" y="4800600"/>
            <a:ext cx="8503920" cy="731520"/>
          </a:xfrm>
          <a:prstGeom prst="roundRect">
            <a:avLst/>
          </a:prstGeom>
          <a:solidFill>
            <a:srgbClr val="19283E"/>
          </a:solidFill>
          <a:ln>
            <a:solidFill>
              <a:srgbClr val="1928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011680" y="5029200"/>
            <a:ext cx="8138160" cy="274320"/>
          </a:xfrm>
          <a:prstGeom prst="rect">
            <a:avLst/>
          </a:prstGeom>
          <a:noFill/>
        </p:spPr>
        <p:txBody>
          <a:bodyPr wrap="square" lIns="36576" rIns="36576" tIns="18288" bIns="18288">
            <a:spAutoFit/>
          </a:bodyPr>
          <a:lstStyle/>
          <a:p>
            <a:pPr algn="ctr"/>
            <a:r>
              <a:rPr sz="1400" b="1">
                <a:solidFill>
                  <a:srgbClr val="F0F6FF"/>
                </a:solidFill>
                <a:latin typeface="Aptos"/>
              </a:rPr>
              <a:t>Final artifacts: JSON • Markdown report • Lead CSV • Reviewable outreach draft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11F"/>
        </a:solidFill>
        <a:effectLst/>
      </p:bgPr>
    </p:bg>
    <p:spTree>
      <p:nvGrpSpPr>
        <p:cNvPr id="1" name=""/>
        <p:cNvGrpSpPr/>
        <p:nvPr/>
      </p:nvGrpSpPr>
      <p:grpSpPr/>
      <p:sp>
        <p:nvSpPr>
          <p:cNvPr id="2" name="TextBox 1"/>
          <p:cNvSpPr txBox="1"/>
          <p:nvPr/>
        </p:nvSpPr>
        <p:spPr>
          <a:xfrm>
            <a:off x="594360" y="292608"/>
            <a:ext cx="10972800" cy="457200"/>
          </a:xfrm>
          <a:prstGeom prst="rect">
            <a:avLst/>
          </a:prstGeom>
          <a:noFill/>
        </p:spPr>
        <p:txBody>
          <a:bodyPr wrap="square" lIns="36576" rIns="36576" tIns="18288" bIns="18288">
            <a:spAutoFit/>
          </a:bodyPr>
          <a:lstStyle/>
          <a:p>
            <a:pPr algn="l"/>
            <a:r>
              <a:rPr sz="2600" b="1">
                <a:solidFill>
                  <a:srgbClr val="F0F6FF"/>
                </a:solidFill>
                <a:latin typeface="Aptos"/>
              </a:rPr>
              <a:t>Agent 1 — Demand Sensing</a:t>
            </a:r>
          </a:p>
        </p:txBody>
      </p:sp>
      <p:sp>
        <p:nvSpPr>
          <p:cNvPr id="3" name="TextBox 2"/>
          <p:cNvSpPr txBox="1"/>
          <p:nvPr/>
        </p:nvSpPr>
        <p:spPr>
          <a:xfrm>
            <a:off x="621792" y="832104"/>
            <a:ext cx="10972800" cy="292608"/>
          </a:xfrm>
          <a:prstGeom prst="rect">
            <a:avLst/>
          </a:prstGeom>
          <a:noFill/>
        </p:spPr>
        <p:txBody>
          <a:bodyPr wrap="square" lIns="36576" rIns="36576" tIns="18288" bIns="18288">
            <a:spAutoFit/>
          </a:bodyPr>
          <a:lstStyle/>
          <a:p>
            <a:pPr algn="l"/>
            <a:r>
              <a:rPr sz="1100" b="0">
                <a:solidFill>
                  <a:srgbClr val="A0B3CD"/>
                </a:solidFill>
                <a:latin typeface="Aptos"/>
              </a:rPr>
              <a:t>Normalize public business signals that may indicate a communication-coaching use case.</a:t>
            </a:r>
          </a:p>
        </p:txBody>
      </p:sp>
      <p:sp>
        <p:nvSpPr>
          <p:cNvPr id="4" name="Rectangle 3"/>
          <p:cNvSpPr/>
          <p:nvPr/>
        </p:nvSpPr>
        <p:spPr>
          <a:xfrm>
            <a:off x="621792" y="1225296"/>
            <a:ext cx="960120" cy="41148"/>
          </a:xfrm>
          <a:prstGeom prst="rect">
            <a:avLst/>
          </a:prstGeom>
          <a:solidFill>
            <a:srgbClr val="2FDCC2"/>
          </a:solidFill>
          <a:ln>
            <a:solidFill>
              <a:srgbClr val="2FDC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6510528"/>
            <a:ext cx="8229600" cy="164592"/>
          </a:xfrm>
          <a:prstGeom prst="rect">
            <a:avLst/>
          </a:prstGeom>
          <a:noFill/>
        </p:spPr>
        <p:txBody>
          <a:bodyPr wrap="square" lIns="36576" rIns="36576" tIns="18288" bIns="18288">
            <a:spAutoFit/>
          </a:bodyPr>
          <a:lstStyle/>
          <a:p>
            <a:pPr algn="l"/>
            <a:r>
              <a:rPr sz="800" b="1">
                <a:solidFill>
                  <a:srgbClr val="A0B3CD"/>
                </a:solidFill>
                <a:latin typeface="Aptos"/>
              </a:rPr>
              <a:t>VANI GTM MULTI-AGENT SYSTEM  •  ASSIGNMENT DEMO</a:t>
            </a:r>
          </a:p>
        </p:txBody>
      </p:sp>
      <p:sp>
        <p:nvSpPr>
          <p:cNvPr id="6" name="TextBox 5"/>
          <p:cNvSpPr txBox="1"/>
          <p:nvPr/>
        </p:nvSpPr>
        <p:spPr>
          <a:xfrm>
            <a:off x="11064240" y="6473952"/>
            <a:ext cx="457200" cy="182880"/>
          </a:xfrm>
          <a:prstGeom prst="rect">
            <a:avLst/>
          </a:prstGeom>
          <a:noFill/>
        </p:spPr>
        <p:txBody>
          <a:bodyPr wrap="square" lIns="36576" rIns="36576" tIns="18288" bIns="18288">
            <a:spAutoFit/>
          </a:bodyPr>
          <a:lstStyle/>
          <a:p>
            <a:pPr algn="r"/>
            <a:r>
              <a:rPr sz="900" b="1">
                <a:solidFill>
                  <a:srgbClr val="A0B3CD"/>
                </a:solidFill>
                <a:latin typeface="Aptos"/>
              </a:rPr>
              <a:t>04</a:t>
            </a:r>
          </a:p>
        </p:txBody>
      </p:sp>
      <p:sp>
        <p:nvSpPr>
          <p:cNvPr id="7" name="Rounded Rectangle 6"/>
          <p:cNvSpPr/>
          <p:nvPr/>
        </p:nvSpPr>
        <p:spPr>
          <a:xfrm>
            <a:off x="731520" y="1554480"/>
            <a:ext cx="5166360" cy="3566160"/>
          </a:xfrm>
          <a:prstGeom prst="roundRect">
            <a:avLst/>
          </a:prstGeom>
          <a:solidFill>
            <a:srgbClr val="131E31"/>
          </a:solidFill>
          <a:ln>
            <a:solidFill>
              <a:srgbClr val="1928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554480"/>
            <a:ext cx="64008" cy="3566160"/>
          </a:xfrm>
          <a:prstGeom prst="rect">
            <a:avLst/>
          </a:prstGeom>
          <a:solidFill>
            <a:srgbClr val="2FDCC2"/>
          </a:solidFill>
          <a:ln>
            <a:solidFill>
              <a:srgbClr val="2FDC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1719072"/>
            <a:ext cx="4800600" cy="347472"/>
          </a:xfrm>
          <a:prstGeom prst="rect">
            <a:avLst/>
          </a:prstGeom>
          <a:noFill/>
        </p:spPr>
        <p:txBody>
          <a:bodyPr wrap="square" lIns="36576" rIns="36576" tIns="18288" bIns="18288">
            <a:spAutoFit/>
          </a:bodyPr>
          <a:lstStyle/>
          <a:p>
            <a:pPr algn="l"/>
            <a:r>
              <a:rPr sz="1600" b="1">
                <a:solidFill>
                  <a:srgbClr val="F0F6FF"/>
                </a:solidFill>
                <a:latin typeface="Aptos"/>
              </a:rPr>
              <a:t>Inputs &amp; process</a:t>
            </a:r>
          </a:p>
        </p:txBody>
      </p:sp>
      <p:sp>
        <p:nvSpPr>
          <p:cNvPr id="10" name="TextBox 9"/>
          <p:cNvSpPr txBox="1"/>
          <p:nvPr/>
        </p:nvSpPr>
        <p:spPr>
          <a:xfrm>
            <a:off x="932688" y="2194560"/>
            <a:ext cx="4782312" cy="2816352"/>
          </a:xfrm>
          <a:prstGeom prst="rect">
            <a:avLst/>
          </a:prstGeom>
          <a:noFill/>
        </p:spPr>
        <p:txBody>
          <a:bodyPr wrap="square" lIns="27432" rIns="27432" tIns="18288">
            <a:spAutoFit/>
          </a:bodyPr>
          <a:lstStyle/>
          <a:p>
            <a:pPr>
              <a:spcAft>
                <a:spcPts val="700"/>
              </a:spcAft>
              <a:defRPr sz="1400">
                <a:solidFill>
                  <a:srgbClr val="A0B3CD"/>
                </a:solidFill>
                <a:latin typeface="Aptos"/>
              </a:defRPr>
            </a:pPr>
            <a:r>
              <a:t>•  Public company or careers-page signal</a:t>
            </a:r>
          </a:p>
          <a:p>
            <a:pPr>
              <a:spcAft>
                <a:spcPts val="700"/>
              </a:spcAft>
              <a:defRPr sz="1400">
                <a:solidFill>
                  <a:srgbClr val="A0B3CD"/>
                </a:solidFill>
                <a:latin typeface="Aptos"/>
              </a:defRPr>
            </a:pPr>
            <a:r>
              <a:t>•  Signal summary, source URL, date and evidence excerpt</a:t>
            </a:r>
          </a:p>
          <a:p>
            <a:pPr>
              <a:spcAft>
                <a:spcPts val="700"/>
              </a:spcAft>
              <a:defRPr sz="1400">
                <a:solidFill>
                  <a:srgbClr val="A0B3CD"/>
                </a:solidFill>
                <a:latin typeface="Aptos"/>
              </a:defRPr>
            </a:pPr>
            <a:r>
              <a:t>•  Tag client-facing roles, hiring, enablement and workforce development</a:t>
            </a:r>
          </a:p>
          <a:p>
            <a:pPr>
              <a:spcAft>
                <a:spcPts val="700"/>
              </a:spcAft>
              <a:defRPr sz="1400">
                <a:solidFill>
                  <a:srgbClr val="A0B3CD"/>
                </a:solidFill>
                <a:latin typeface="Aptos"/>
              </a:defRPr>
            </a:pPr>
            <a:r>
              <a:t>•  Record missing fields and confidence</a:t>
            </a:r>
          </a:p>
        </p:txBody>
      </p:sp>
      <p:sp>
        <p:nvSpPr>
          <p:cNvPr id="11" name="Rounded Rectangle 10"/>
          <p:cNvSpPr/>
          <p:nvPr/>
        </p:nvSpPr>
        <p:spPr>
          <a:xfrm>
            <a:off x="6263640" y="1554480"/>
            <a:ext cx="5166360" cy="3566160"/>
          </a:xfrm>
          <a:prstGeom prst="roundRect">
            <a:avLst/>
          </a:prstGeom>
          <a:solidFill>
            <a:srgbClr val="131E31"/>
          </a:solidFill>
          <a:ln>
            <a:solidFill>
              <a:srgbClr val="1928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63640" y="1554480"/>
            <a:ext cx="64008" cy="3566160"/>
          </a:xfrm>
          <a:prstGeom prst="rect">
            <a:avLst/>
          </a:prstGeom>
          <a:solidFill>
            <a:srgbClr val="2FDCC2"/>
          </a:solidFill>
          <a:ln>
            <a:solidFill>
              <a:srgbClr val="2FDC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4807" y="1719072"/>
            <a:ext cx="4800600" cy="347472"/>
          </a:xfrm>
          <a:prstGeom prst="rect">
            <a:avLst/>
          </a:prstGeom>
          <a:noFill/>
        </p:spPr>
        <p:txBody>
          <a:bodyPr wrap="square" lIns="36576" rIns="36576" tIns="18288" bIns="18288">
            <a:spAutoFit/>
          </a:bodyPr>
          <a:lstStyle/>
          <a:p>
            <a:pPr algn="l"/>
            <a:r>
              <a:rPr sz="1600" b="1">
                <a:solidFill>
                  <a:srgbClr val="F0F6FF"/>
                </a:solidFill>
                <a:latin typeface="Aptos"/>
              </a:rPr>
              <a:t>Output contract</a:t>
            </a:r>
          </a:p>
        </p:txBody>
      </p:sp>
      <p:sp>
        <p:nvSpPr>
          <p:cNvPr id="14" name="TextBox 13"/>
          <p:cNvSpPr txBox="1"/>
          <p:nvPr/>
        </p:nvSpPr>
        <p:spPr>
          <a:xfrm>
            <a:off x="6464807" y="2194560"/>
            <a:ext cx="4782312" cy="2816352"/>
          </a:xfrm>
          <a:prstGeom prst="rect">
            <a:avLst/>
          </a:prstGeom>
          <a:noFill/>
        </p:spPr>
        <p:txBody>
          <a:bodyPr wrap="square" lIns="27432" rIns="27432" tIns="18288">
            <a:spAutoFit/>
          </a:bodyPr>
          <a:lstStyle/>
          <a:p>
            <a:pPr>
              <a:spcAft>
                <a:spcPts val="700"/>
              </a:spcAft>
              <a:defRPr sz="1400">
                <a:solidFill>
                  <a:srgbClr val="A0B3CD"/>
                </a:solidFill>
                <a:latin typeface="Aptos"/>
              </a:defRPr>
            </a:pPr>
            <a:r>
              <a:t>•  Account ID and company metadata</a:t>
            </a:r>
          </a:p>
          <a:p>
            <a:pPr>
              <a:spcAft>
                <a:spcPts val="700"/>
              </a:spcAft>
              <a:defRPr sz="1400">
                <a:solidFill>
                  <a:srgbClr val="A0B3CD"/>
                </a:solidFill>
                <a:latin typeface="Aptos"/>
              </a:defRPr>
            </a:pPr>
            <a:r>
              <a:t>•  Signal type and plain-language summary</a:t>
            </a:r>
          </a:p>
          <a:p>
            <a:pPr>
              <a:spcAft>
                <a:spcPts val="700"/>
              </a:spcAft>
              <a:defRPr sz="1400">
                <a:solidFill>
                  <a:srgbClr val="A0B3CD"/>
                </a:solidFill>
                <a:latin typeface="Aptos"/>
              </a:defRPr>
            </a:pPr>
            <a:r>
              <a:t>•  Traceable source and evidence excerpt</a:t>
            </a:r>
          </a:p>
          <a:p>
            <a:pPr>
              <a:spcAft>
                <a:spcPts val="700"/>
              </a:spcAft>
              <a:defRPr sz="1400">
                <a:solidFill>
                  <a:srgbClr val="A0B3CD"/>
                </a:solidFill>
                <a:latin typeface="Aptos"/>
              </a:defRPr>
            </a:pPr>
            <a:r>
              <a:t>•  Status: usable for profiling or needs research</a:t>
            </a:r>
          </a:p>
        </p:txBody>
      </p:sp>
      <p:sp>
        <p:nvSpPr>
          <p:cNvPr id="15" name="TextBox 14"/>
          <p:cNvSpPr txBox="1"/>
          <p:nvPr/>
        </p:nvSpPr>
        <p:spPr>
          <a:xfrm>
            <a:off x="777240" y="5486400"/>
            <a:ext cx="10698480" cy="365760"/>
          </a:xfrm>
          <a:prstGeom prst="rect">
            <a:avLst/>
          </a:prstGeom>
          <a:noFill/>
        </p:spPr>
        <p:txBody>
          <a:bodyPr wrap="square" lIns="36576" rIns="36576" tIns="18288" bIns="18288">
            <a:spAutoFit/>
          </a:bodyPr>
          <a:lstStyle/>
          <a:p>
            <a:pPr algn="l"/>
            <a:r>
              <a:rPr sz="1400" b="1">
                <a:solidFill>
                  <a:srgbClr val="FFBE4B"/>
                </a:solidFill>
                <a:latin typeface="Aptos"/>
              </a:rPr>
              <a:t>Guardrail: a signal suggests possible relevance; it does not prove buying intent or budget.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11F"/>
        </a:solidFill>
        <a:effectLst/>
      </p:bgPr>
    </p:bg>
    <p:spTree>
      <p:nvGrpSpPr>
        <p:cNvPr id="1" name=""/>
        <p:cNvGrpSpPr/>
        <p:nvPr/>
      </p:nvGrpSpPr>
      <p:grpSpPr/>
      <p:sp>
        <p:nvSpPr>
          <p:cNvPr id="2" name="TextBox 1"/>
          <p:cNvSpPr txBox="1"/>
          <p:nvPr/>
        </p:nvSpPr>
        <p:spPr>
          <a:xfrm>
            <a:off x="594360" y="292608"/>
            <a:ext cx="10972800" cy="457200"/>
          </a:xfrm>
          <a:prstGeom prst="rect">
            <a:avLst/>
          </a:prstGeom>
          <a:noFill/>
        </p:spPr>
        <p:txBody>
          <a:bodyPr wrap="square" lIns="36576" rIns="36576" tIns="18288" bIns="18288">
            <a:spAutoFit/>
          </a:bodyPr>
          <a:lstStyle/>
          <a:p>
            <a:pPr algn="l"/>
            <a:r>
              <a:rPr sz="2600" b="1">
                <a:solidFill>
                  <a:srgbClr val="F0F6FF"/>
                </a:solidFill>
                <a:latin typeface="Aptos"/>
              </a:rPr>
              <a:t>Agent 2 — Customer Profiling</a:t>
            </a:r>
          </a:p>
        </p:txBody>
      </p:sp>
      <p:sp>
        <p:nvSpPr>
          <p:cNvPr id="3" name="TextBox 2"/>
          <p:cNvSpPr txBox="1"/>
          <p:nvPr/>
        </p:nvSpPr>
        <p:spPr>
          <a:xfrm>
            <a:off x="621792" y="832104"/>
            <a:ext cx="10972800" cy="292608"/>
          </a:xfrm>
          <a:prstGeom prst="rect">
            <a:avLst/>
          </a:prstGeom>
          <a:noFill/>
        </p:spPr>
        <p:txBody>
          <a:bodyPr wrap="square" lIns="36576" rIns="36576" tIns="18288" bIns="18288">
            <a:spAutoFit/>
          </a:bodyPr>
          <a:lstStyle/>
          <a:p>
            <a:pPr algn="l"/>
            <a:r>
              <a:rPr sz="1100" b="0">
                <a:solidFill>
                  <a:srgbClr val="A0B3CD"/>
                </a:solidFill>
                <a:latin typeface="Aptos"/>
              </a:rPr>
              <a:t>Explainable scoring instead of a black-box qualification label.</a:t>
            </a:r>
          </a:p>
        </p:txBody>
      </p:sp>
      <p:sp>
        <p:nvSpPr>
          <p:cNvPr id="4" name="Rectangle 3"/>
          <p:cNvSpPr/>
          <p:nvPr/>
        </p:nvSpPr>
        <p:spPr>
          <a:xfrm>
            <a:off x="621792" y="1225296"/>
            <a:ext cx="960120" cy="41148"/>
          </a:xfrm>
          <a:prstGeom prst="rect">
            <a:avLst/>
          </a:prstGeom>
          <a:solidFill>
            <a:srgbClr val="2FDCC2"/>
          </a:solidFill>
          <a:ln>
            <a:solidFill>
              <a:srgbClr val="2FDC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6510528"/>
            <a:ext cx="8229600" cy="164592"/>
          </a:xfrm>
          <a:prstGeom prst="rect">
            <a:avLst/>
          </a:prstGeom>
          <a:noFill/>
        </p:spPr>
        <p:txBody>
          <a:bodyPr wrap="square" lIns="36576" rIns="36576" tIns="18288" bIns="18288">
            <a:spAutoFit/>
          </a:bodyPr>
          <a:lstStyle/>
          <a:p>
            <a:pPr algn="l"/>
            <a:r>
              <a:rPr sz="800" b="1">
                <a:solidFill>
                  <a:srgbClr val="A0B3CD"/>
                </a:solidFill>
                <a:latin typeface="Aptos"/>
              </a:rPr>
              <a:t>VANI GTM MULTI-AGENT SYSTEM  •  ASSIGNMENT DEMO</a:t>
            </a:r>
          </a:p>
        </p:txBody>
      </p:sp>
      <p:sp>
        <p:nvSpPr>
          <p:cNvPr id="6" name="TextBox 5"/>
          <p:cNvSpPr txBox="1"/>
          <p:nvPr/>
        </p:nvSpPr>
        <p:spPr>
          <a:xfrm>
            <a:off x="11064240" y="6473952"/>
            <a:ext cx="457200" cy="182880"/>
          </a:xfrm>
          <a:prstGeom prst="rect">
            <a:avLst/>
          </a:prstGeom>
          <a:noFill/>
        </p:spPr>
        <p:txBody>
          <a:bodyPr wrap="square" lIns="36576" rIns="36576" tIns="18288" bIns="18288">
            <a:spAutoFit/>
          </a:bodyPr>
          <a:lstStyle/>
          <a:p>
            <a:pPr algn="r"/>
            <a:r>
              <a:rPr sz="900" b="1">
                <a:solidFill>
                  <a:srgbClr val="A0B3CD"/>
                </a:solidFill>
                <a:latin typeface="Aptos"/>
              </a:rPr>
              <a:t>05</a:t>
            </a:r>
          </a:p>
        </p:txBody>
      </p:sp>
      <p:sp>
        <p:nvSpPr>
          <p:cNvPr id="7" name="Rounded Rectangle 6"/>
          <p:cNvSpPr/>
          <p:nvPr/>
        </p:nvSpPr>
        <p:spPr>
          <a:xfrm>
            <a:off x="731520" y="1554480"/>
            <a:ext cx="5120640" cy="4114800"/>
          </a:xfrm>
          <a:prstGeom prst="roundRect">
            <a:avLst/>
          </a:prstGeom>
          <a:solidFill>
            <a:srgbClr val="131E31"/>
          </a:solidFill>
          <a:ln>
            <a:solidFill>
              <a:srgbClr val="1928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1783080"/>
            <a:ext cx="4572000" cy="365760"/>
          </a:xfrm>
          <a:prstGeom prst="rect">
            <a:avLst/>
          </a:prstGeom>
          <a:noFill/>
        </p:spPr>
        <p:txBody>
          <a:bodyPr wrap="square" lIns="36576" rIns="36576" tIns="18288" bIns="18288">
            <a:spAutoFit/>
          </a:bodyPr>
          <a:lstStyle/>
          <a:p>
            <a:pPr algn="l"/>
            <a:r>
              <a:rPr sz="1800" b="1">
                <a:solidFill>
                  <a:srgbClr val="F0F6FF"/>
                </a:solidFill>
                <a:latin typeface="Aptos"/>
              </a:rPr>
              <a:t>Weighted ICP score (0–100)</a:t>
            </a:r>
          </a:p>
        </p:txBody>
      </p:sp>
      <p:sp>
        <p:nvSpPr>
          <p:cNvPr id="9" name="TextBox 8"/>
          <p:cNvSpPr txBox="1"/>
          <p:nvPr/>
        </p:nvSpPr>
        <p:spPr>
          <a:xfrm>
            <a:off x="1005840" y="2331720"/>
            <a:ext cx="4526280" cy="2560320"/>
          </a:xfrm>
          <a:prstGeom prst="rect">
            <a:avLst/>
          </a:prstGeom>
          <a:noFill/>
        </p:spPr>
        <p:txBody>
          <a:bodyPr wrap="square" lIns="27432" rIns="27432" tIns="18288">
            <a:spAutoFit/>
          </a:bodyPr>
          <a:lstStyle/>
          <a:p>
            <a:pPr>
              <a:spcAft>
                <a:spcPts val="900"/>
              </a:spcAft>
              <a:defRPr sz="1400">
                <a:solidFill>
                  <a:srgbClr val="A0B3CD"/>
                </a:solidFill>
                <a:latin typeface="Aptos"/>
              </a:defRPr>
            </a:pPr>
            <a:r>
              <a:t>•  Workforce / role fit — 25%</a:t>
            </a:r>
          </a:p>
          <a:p>
            <a:pPr>
              <a:spcAft>
                <a:spcPts val="900"/>
              </a:spcAft>
              <a:defRPr sz="1400">
                <a:solidFill>
                  <a:srgbClr val="A0B3CD"/>
                </a:solidFill>
                <a:latin typeface="Aptos"/>
              </a:defRPr>
            </a:pPr>
            <a:r>
              <a:t>•  Trigger strength — 25%</a:t>
            </a:r>
          </a:p>
          <a:p>
            <a:pPr>
              <a:spcAft>
                <a:spcPts val="900"/>
              </a:spcAft>
              <a:defRPr sz="1400">
                <a:solidFill>
                  <a:srgbClr val="A0B3CD"/>
                </a:solidFill>
                <a:latin typeface="Aptos"/>
              </a:defRPr>
            </a:pPr>
            <a:r>
              <a:t>•  Vani use-case fit — 20%</a:t>
            </a:r>
          </a:p>
          <a:p>
            <a:pPr>
              <a:spcAft>
                <a:spcPts val="900"/>
              </a:spcAft>
              <a:defRPr sz="1400">
                <a:solidFill>
                  <a:srgbClr val="A0B3CD"/>
                </a:solidFill>
                <a:latin typeface="Aptos"/>
              </a:defRPr>
            </a:pPr>
            <a:r>
              <a:t>•  Potential business impact — 15%</a:t>
            </a:r>
          </a:p>
          <a:p>
            <a:pPr>
              <a:spcAft>
                <a:spcPts val="900"/>
              </a:spcAft>
              <a:defRPr sz="1400">
                <a:solidFill>
                  <a:srgbClr val="A0B3CD"/>
                </a:solidFill>
                <a:latin typeface="Aptos"/>
              </a:defRPr>
            </a:pPr>
            <a:r>
              <a:t>•  Buying-committee reachability — 10%</a:t>
            </a:r>
          </a:p>
          <a:p>
            <a:pPr>
              <a:spcAft>
                <a:spcPts val="900"/>
              </a:spcAft>
              <a:defRPr sz="1400">
                <a:solidFill>
                  <a:srgbClr val="A0B3CD"/>
                </a:solidFill>
                <a:latin typeface="Aptos"/>
              </a:defRPr>
            </a:pPr>
            <a:r>
              <a:t>•  Evidence quality — 5%</a:t>
            </a:r>
          </a:p>
        </p:txBody>
      </p:sp>
      <p:sp>
        <p:nvSpPr>
          <p:cNvPr id="10" name="TextBox 9"/>
          <p:cNvSpPr txBox="1"/>
          <p:nvPr/>
        </p:nvSpPr>
        <p:spPr>
          <a:xfrm>
            <a:off x="1005840" y="5074920"/>
            <a:ext cx="4526280" cy="320040"/>
          </a:xfrm>
          <a:prstGeom prst="rect">
            <a:avLst/>
          </a:prstGeom>
          <a:noFill/>
        </p:spPr>
        <p:txBody>
          <a:bodyPr wrap="square" lIns="36576" rIns="36576" tIns="18288" bIns="18288">
            <a:spAutoFit/>
          </a:bodyPr>
          <a:lstStyle/>
          <a:p>
            <a:pPr algn="l"/>
            <a:r>
              <a:rPr sz="1100" b="1">
                <a:solidFill>
                  <a:srgbClr val="2FDCC2"/>
                </a:solidFill>
                <a:latin typeface="Aptos"/>
              </a:rPr>
              <a:t>Priority bands: High ≥ 75 • Medium ≥ 55 • Low &lt; 55</a:t>
            </a:r>
          </a:p>
        </p:txBody>
      </p:sp>
      <p:sp>
        <p:nvSpPr>
          <p:cNvPr id="11" name="Rounded Rectangle 10"/>
          <p:cNvSpPr/>
          <p:nvPr/>
        </p:nvSpPr>
        <p:spPr>
          <a:xfrm>
            <a:off x="6172200" y="1554480"/>
            <a:ext cx="5257800" cy="4114800"/>
          </a:xfrm>
          <a:prstGeom prst="roundRect">
            <a:avLst/>
          </a:prstGeom>
          <a:solidFill>
            <a:srgbClr val="131E31"/>
          </a:solidFill>
          <a:ln>
            <a:solidFill>
              <a:srgbClr val="1928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554480"/>
            <a:ext cx="64008" cy="4114800"/>
          </a:xfrm>
          <a:prstGeom prst="rect">
            <a:avLst/>
          </a:prstGeom>
          <a:solidFill>
            <a:srgbClr val="579DFF"/>
          </a:solidFill>
          <a:ln>
            <a:solidFill>
              <a:srgbClr val="579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73368" y="1719072"/>
            <a:ext cx="4892040" cy="347472"/>
          </a:xfrm>
          <a:prstGeom prst="rect">
            <a:avLst/>
          </a:prstGeom>
          <a:noFill/>
        </p:spPr>
        <p:txBody>
          <a:bodyPr wrap="square" lIns="36576" rIns="36576" tIns="18288" bIns="18288">
            <a:spAutoFit/>
          </a:bodyPr>
          <a:lstStyle/>
          <a:p>
            <a:pPr algn="l"/>
            <a:r>
              <a:rPr sz="1600" b="1">
                <a:solidFill>
                  <a:srgbClr val="F0F6FF"/>
                </a:solidFill>
                <a:latin typeface="Aptos"/>
              </a:rPr>
              <a:t>Profile output</a:t>
            </a:r>
          </a:p>
        </p:txBody>
      </p:sp>
      <p:sp>
        <p:nvSpPr>
          <p:cNvPr id="14" name="TextBox 13"/>
          <p:cNvSpPr txBox="1"/>
          <p:nvPr/>
        </p:nvSpPr>
        <p:spPr>
          <a:xfrm>
            <a:off x="6373368" y="2194560"/>
            <a:ext cx="4873752" cy="3364992"/>
          </a:xfrm>
          <a:prstGeom prst="rect">
            <a:avLst/>
          </a:prstGeom>
          <a:noFill/>
        </p:spPr>
        <p:txBody>
          <a:bodyPr wrap="square" lIns="27432" rIns="27432" tIns="18288">
            <a:spAutoFit/>
          </a:bodyPr>
          <a:lstStyle/>
          <a:p>
            <a:pPr>
              <a:spcAft>
                <a:spcPts val="700"/>
              </a:spcAft>
              <a:defRPr sz="1400">
                <a:solidFill>
                  <a:srgbClr val="A0B3CD"/>
                </a:solidFill>
                <a:latin typeface="Aptos"/>
              </a:defRPr>
            </a:pPr>
            <a:r>
              <a:t>•  ICP score and component rationale</a:t>
            </a:r>
          </a:p>
          <a:p>
            <a:pPr>
              <a:spcAft>
                <a:spcPts val="700"/>
              </a:spcAft>
              <a:defRPr sz="1400">
                <a:solidFill>
                  <a:srgbClr val="A0B3CD"/>
                </a:solidFill>
                <a:latin typeface="Aptos"/>
              </a:defRPr>
            </a:pPr>
            <a:r>
              <a:t>•  Persona hypotheses: L&amp;D, Sales Enablement, People leader</a:t>
            </a:r>
          </a:p>
          <a:p>
            <a:pPr>
              <a:spcAft>
                <a:spcPts val="700"/>
              </a:spcAft>
              <a:defRPr sz="1400">
                <a:solidFill>
                  <a:srgbClr val="A0B3CD"/>
                </a:solidFill>
                <a:latin typeface="Aptos"/>
              </a:defRPr>
            </a:pPr>
            <a:r>
              <a:t>•  Use-case hypothesis aligned to Vani</a:t>
            </a:r>
          </a:p>
          <a:p>
            <a:pPr>
              <a:spcAft>
                <a:spcPts val="700"/>
              </a:spcAft>
              <a:defRPr sz="1400">
                <a:solidFill>
                  <a:srgbClr val="A0B3CD"/>
                </a:solidFill>
                <a:latin typeface="Aptos"/>
              </a:defRPr>
            </a:pPr>
            <a:r>
              <a:t>•  Verification flags for company, signal and persona</a:t>
            </a:r>
          </a:p>
          <a:p>
            <a:pPr>
              <a:spcAft>
                <a:spcPts val="700"/>
              </a:spcAft>
              <a:defRPr sz="1400">
                <a:solidFill>
                  <a:srgbClr val="A0B3CD"/>
                </a:solidFill>
                <a:latin typeface="Aptos"/>
              </a:defRPr>
            </a:pPr>
            <a:r>
              <a:t>•  Disposition: review, nurture or hold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11F"/>
        </a:solidFill>
        <a:effectLst/>
      </p:bgPr>
    </p:bg>
    <p:spTree>
      <p:nvGrpSpPr>
        <p:cNvPr id="1" name=""/>
        <p:cNvGrpSpPr/>
        <p:nvPr/>
      </p:nvGrpSpPr>
      <p:grpSpPr/>
      <p:sp>
        <p:nvSpPr>
          <p:cNvPr id="2" name="TextBox 1"/>
          <p:cNvSpPr txBox="1"/>
          <p:nvPr/>
        </p:nvSpPr>
        <p:spPr>
          <a:xfrm>
            <a:off x="594360" y="292608"/>
            <a:ext cx="10972800" cy="457200"/>
          </a:xfrm>
          <a:prstGeom prst="rect">
            <a:avLst/>
          </a:prstGeom>
          <a:noFill/>
        </p:spPr>
        <p:txBody>
          <a:bodyPr wrap="square" lIns="36576" rIns="36576" tIns="18288" bIns="18288">
            <a:spAutoFit/>
          </a:bodyPr>
          <a:lstStyle/>
          <a:p>
            <a:pPr algn="l"/>
            <a:r>
              <a:rPr sz="2600" b="1">
                <a:solidFill>
                  <a:srgbClr val="F0F6FF"/>
                </a:solidFill>
                <a:latin typeface="Aptos"/>
              </a:rPr>
              <a:t>Agent 3 — Outbound Strategy</a:t>
            </a:r>
          </a:p>
        </p:txBody>
      </p:sp>
      <p:sp>
        <p:nvSpPr>
          <p:cNvPr id="3" name="TextBox 2"/>
          <p:cNvSpPr txBox="1"/>
          <p:nvPr/>
        </p:nvSpPr>
        <p:spPr>
          <a:xfrm>
            <a:off x="621792" y="832104"/>
            <a:ext cx="10972800" cy="292608"/>
          </a:xfrm>
          <a:prstGeom prst="rect">
            <a:avLst/>
          </a:prstGeom>
          <a:noFill/>
        </p:spPr>
        <p:txBody>
          <a:bodyPr wrap="square" lIns="36576" rIns="36576" tIns="18288" bIns="18288">
            <a:spAutoFit/>
          </a:bodyPr>
          <a:lstStyle/>
          <a:p>
            <a:pPr algn="l"/>
            <a:r>
              <a:rPr sz="1100" b="0">
                <a:solidFill>
                  <a:srgbClr val="A0B3CD"/>
                </a:solidFill>
                <a:latin typeface="Aptos"/>
              </a:rPr>
              <a:t>Turn a verified trigger into relevant, personalized outreach.</a:t>
            </a:r>
          </a:p>
        </p:txBody>
      </p:sp>
      <p:sp>
        <p:nvSpPr>
          <p:cNvPr id="4" name="Rectangle 3"/>
          <p:cNvSpPr/>
          <p:nvPr/>
        </p:nvSpPr>
        <p:spPr>
          <a:xfrm>
            <a:off x="621792" y="1225296"/>
            <a:ext cx="960120" cy="41148"/>
          </a:xfrm>
          <a:prstGeom prst="rect">
            <a:avLst/>
          </a:prstGeom>
          <a:solidFill>
            <a:srgbClr val="2FDCC2"/>
          </a:solidFill>
          <a:ln>
            <a:solidFill>
              <a:srgbClr val="2FDC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6510528"/>
            <a:ext cx="8229600" cy="164592"/>
          </a:xfrm>
          <a:prstGeom prst="rect">
            <a:avLst/>
          </a:prstGeom>
          <a:noFill/>
        </p:spPr>
        <p:txBody>
          <a:bodyPr wrap="square" lIns="36576" rIns="36576" tIns="18288" bIns="18288">
            <a:spAutoFit/>
          </a:bodyPr>
          <a:lstStyle/>
          <a:p>
            <a:pPr algn="l"/>
            <a:r>
              <a:rPr sz="800" b="1">
                <a:solidFill>
                  <a:srgbClr val="A0B3CD"/>
                </a:solidFill>
                <a:latin typeface="Aptos"/>
              </a:rPr>
              <a:t>VANI GTM MULTI-AGENT SYSTEM  •  ASSIGNMENT DEMO</a:t>
            </a:r>
          </a:p>
        </p:txBody>
      </p:sp>
      <p:sp>
        <p:nvSpPr>
          <p:cNvPr id="6" name="TextBox 5"/>
          <p:cNvSpPr txBox="1"/>
          <p:nvPr/>
        </p:nvSpPr>
        <p:spPr>
          <a:xfrm>
            <a:off x="11064240" y="6473952"/>
            <a:ext cx="457200" cy="182880"/>
          </a:xfrm>
          <a:prstGeom prst="rect">
            <a:avLst/>
          </a:prstGeom>
          <a:noFill/>
        </p:spPr>
        <p:txBody>
          <a:bodyPr wrap="square" lIns="36576" rIns="36576" tIns="18288" bIns="18288">
            <a:spAutoFit/>
          </a:bodyPr>
          <a:lstStyle/>
          <a:p>
            <a:pPr algn="r"/>
            <a:r>
              <a:rPr sz="900" b="1">
                <a:solidFill>
                  <a:srgbClr val="A0B3CD"/>
                </a:solidFill>
                <a:latin typeface="Aptos"/>
              </a:rPr>
              <a:t>06</a:t>
            </a:r>
          </a:p>
        </p:txBody>
      </p:sp>
      <p:sp>
        <p:nvSpPr>
          <p:cNvPr id="7" name="Rounded Rectangle 6"/>
          <p:cNvSpPr/>
          <p:nvPr/>
        </p:nvSpPr>
        <p:spPr>
          <a:xfrm>
            <a:off x="685800" y="1554480"/>
            <a:ext cx="3657600" cy="4069080"/>
          </a:xfrm>
          <a:prstGeom prst="roundRect">
            <a:avLst/>
          </a:prstGeom>
          <a:solidFill>
            <a:srgbClr val="131E31"/>
          </a:solidFill>
          <a:ln>
            <a:solidFill>
              <a:srgbClr val="1928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1554480"/>
            <a:ext cx="64008" cy="4069080"/>
          </a:xfrm>
          <a:prstGeom prst="rect">
            <a:avLst/>
          </a:prstGeom>
          <a:solidFill>
            <a:srgbClr val="B482FF"/>
          </a:solidFill>
          <a:ln>
            <a:solidFill>
              <a:srgbClr val="B48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1719072"/>
            <a:ext cx="3291840" cy="347472"/>
          </a:xfrm>
          <a:prstGeom prst="rect">
            <a:avLst/>
          </a:prstGeom>
          <a:noFill/>
        </p:spPr>
        <p:txBody>
          <a:bodyPr wrap="square" lIns="36576" rIns="36576" tIns="18288" bIns="18288">
            <a:spAutoFit/>
          </a:bodyPr>
          <a:lstStyle/>
          <a:p>
            <a:pPr algn="l"/>
            <a:r>
              <a:rPr sz="1600" b="1">
                <a:solidFill>
                  <a:srgbClr val="F0F6FF"/>
                </a:solidFill>
                <a:latin typeface="Aptos"/>
              </a:rPr>
              <a:t>Personalization recipe</a:t>
            </a:r>
          </a:p>
        </p:txBody>
      </p:sp>
      <p:sp>
        <p:nvSpPr>
          <p:cNvPr id="10" name="TextBox 9"/>
          <p:cNvSpPr txBox="1"/>
          <p:nvPr/>
        </p:nvSpPr>
        <p:spPr>
          <a:xfrm>
            <a:off x="886968" y="2194560"/>
            <a:ext cx="3273552" cy="3319272"/>
          </a:xfrm>
          <a:prstGeom prst="rect">
            <a:avLst/>
          </a:prstGeom>
          <a:noFill/>
        </p:spPr>
        <p:txBody>
          <a:bodyPr wrap="square" lIns="27432" rIns="27432" tIns="18288">
            <a:spAutoFit/>
          </a:bodyPr>
          <a:lstStyle/>
          <a:p>
            <a:pPr>
              <a:spcAft>
                <a:spcPts val="700"/>
              </a:spcAft>
              <a:defRPr sz="1400">
                <a:solidFill>
                  <a:srgbClr val="A0B3CD"/>
                </a:solidFill>
                <a:latin typeface="Aptos"/>
              </a:defRPr>
            </a:pPr>
            <a:r>
              <a:t>•  Reference the actual signal</a:t>
            </a:r>
          </a:p>
          <a:p>
            <a:pPr>
              <a:spcAft>
                <a:spcPts val="700"/>
              </a:spcAft>
              <a:defRPr sz="1400">
                <a:solidFill>
                  <a:srgbClr val="A0B3CD"/>
                </a:solidFill>
                <a:latin typeface="Aptos"/>
              </a:defRPr>
            </a:pPr>
            <a:r>
              <a:t>•  Connect it to a plausible business challenge</a:t>
            </a:r>
          </a:p>
          <a:p>
            <a:pPr>
              <a:spcAft>
                <a:spcPts val="700"/>
              </a:spcAft>
              <a:defRPr sz="1400">
                <a:solidFill>
                  <a:srgbClr val="A0B3CD"/>
                </a:solidFill>
                <a:latin typeface="Aptos"/>
              </a:defRPr>
            </a:pPr>
            <a:r>
              <a:t>•  Explain Vani's relevant value proposition</a:t>
            </a:r>
          </a:p>
          <a:p>
            <a:pPr>
              <a:spcAft>
                <a:spcPts val="700"/>
              </a:spcAft>
              <a:defRPr sz="1400">
                <a:solidFill>
                  <a:srgbClr val="A0B3CD"/>
                </a:solidFill>
                <a:latin typeface="Aptos"/>
              </a:defRPr>
            </a:pPr>
            <a:r>
              <a:t>•  Use a low-friction discovery CTA</a:t>
            </a:r>
          </a:p>
          <a:p>
            <a:pPr>
              <a:spcAft>
                <a:spcPts val="700"/>
              </a:spcAft>
              <a:defRPr sz="1400">
                <a:solidFill>
                  <a:srgbClr val="A0B3CD"/>
                </a:solidFill>
                <a:latin typeface="Aptos"/>
              </a:defRPr>
            </a:pPr>
            <a:r>
              <a:t>•  Keep claims modest and evidence-linked</a:t>
            </a:r>
          </a:p>
        </p:txBody>
      </p:sp>
      <p:sp>
        <p:nvSpPr>
          <p:cNvPr id="11" name="Rounded Rectangle 10"/>
          <p:cNvSpPr/>
          <p:nvPr/>
        </p:nvSpPr>
        <p:spPr>
          <a:xfrm>
            <a:off x="4617720" y="1554480"/>
            <a:ext cx="6812280" cy="4069080"/>
          </a:xfrm>
          <a:prstGeom prst="roundRect">
            <a:avLst/>
          </a:prstGeom>
          <a:solidFill>
            <a:srgbClr val="131E31"/>
          </a:solidFill>
          <a:ln>
            <a:solidFill>
              <a:srgbClr val="1928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92040" y="1810512"/>
            <a:ext cx="6263640" cy="320040"/>
          </a:xfrm>
          <a:prstGeom prst="rect">
            <a:avLst/>
          </a:prstGeom>
          <a:noFill/>
        </p:spPr>
        <p:txBody>
          <a:bodyPr wrap="square" lIns="36576" rIns="36576" tIns="18288" bIns="18288">
            <a:spAutoFit/>
          </a:bodyPr>
          <a:lstStyle/>
          <a:p>
            <a:pPr algn="l"/>
            <a:r>
              <a:rPr sz="1700" b="1">
                <a:solidFill>
                  <a:srgbClr val="F0F6FF"/>
                </a:solidFill>
                <a:latin typeface="Aptos"/>
              </a:rPr>
              <a:t>Example outreach draft</a:t>
            </a:r>
          </a:p>
        </p:txBody>
      </p:sp>
      <p:sp>
        <p:nvSpPr>
          <p:cNvPr id="13" name="TextBox 12"/>
          <p:cNvSpPr txBox="1"/>
          <p:nvPr/>
        </p:nvSpPr>
        <p:spPr>
          <a:xfrm>
            <a:off x="4892040" y="2240280"/>
            <a:ext cx="6263640" cy="3154680"/>
          </a:xfrm>
          <a:prstGeom prst="rect">
            <a:avLst/>
          </a:prstGeom>
          <a:noFill/>
        </p:spPr>
        <p:txBody>
          <a:bodyPr wrap="square" lIns="36576" rIns="36576" tIns="18288" bIns="18288">
            <a:spAutoFit/>
          </a:bodyPr>
          <a:lstStyle/>
          <a:p>
            <a:pPr algn="l"/>
            <a:r>
              <a:rPr sz="1200" b="0">
                <a:solidFill>
                  <a:srgbClr val="A0B3CD"/>
                </a:solidFill>
                <a:latin typeface="Aptos"/>
              </a:rPr>
              <a:t>Subject: Supporting communication skills in client-facing teams
Hi [Name],
I came across a public careers listing describing client-facing work and stakeholder communication. As teams support customers through complex solutions, clear communication and stakeholder alignment can be important capabilities to develop.
Vani helps organizations build communication fitness through personalized practice, AI-supported feedback, and coaching. Would a brief conversation be useful to explore whether this could support your customer-facing teams?
Best regards,
[Your Name]</a:t>
            </a:r>
          </a:p>
        </p:txBody>
      </p:sp>
      <p:sp>
        <p:nvSpPr>
          <p:cNvPr id="14" name="TextBox 13"/>
          <p:cNvSpPr txBox="1"/>
          <p:nvPr/>
        </p:nvSpPr>
        <p:spPr>
          <a:xfrm>
            <a:off x="758952" y="5806440"/>
            <a:ext cx="10515600" cy="256032"/>
          </a:xfrm>
          <a:prstGeom prst="rect">
            <a:avLst/>
          </a:prstGeom>
          <a:noFill/>
        </p:spPr>
        <p:txBody>
          <a:bodyPr wrap="square" lIns="36576" rIns="36576" tIns="18288" bIns="18288">
            <a:spAutoFit/>
          </a:bodyPr>
          <a:lstStyle/>
          <a:p>
            <a:pPr algn="l"/>
            <a:r>
              <a:rPr sz="1300" b="1">
                <a:solidFill>
                  <a:srgbClr val="FFBE4B"/>
                </a:solidFill>
                <a:latin typeface="Aptos"/>
              </a:rPr>
              <a:t>Draft-only mode: no email is sent without explicit human approval.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11F"/>
        </a:solidFill>
        <a:effectLst/>
      </p:bgPr>
    </p:bg>
    <p:spTree>
      <p:nvGrpSpPr>
        <p:cNvPr id="1" name=""/>
        <p:cNvGrpSpPr/>
        <p:nvPr/>
      </p:nvGrpSpPr>
      <p:grpSpPr/>
      <p:sp>
        <p:nvSpPr>
          <p:cNvPr id="2" name="TextBox 1"/>
          <p:cNvSpPr txBox="1"/>
          <p:nvPr/>
        </p:nvSpPr>
        <p:spPr>
          <a:xfrm>
            <a:off x="594360" y="292608"/>
            <a:ext cx="10972800" cy="457200"/>
          </a:xfrm>
          <a:prstGeom prst="rect">
            <a:avLst/>
          </a:prstGeom>
          <a:noFill/>
        </p:spPr>
        <p:txBody>
          <a:bodyPr wrap="square" lIns="36576" rIns="36576" tIns="18288" bIns="18288">
            <a:spAutoFit/>
          </a:bodyPr>
          <a:lstStyle/>
          <a:p>
            <a:pPr algn="l"/>
            <a:r>
              <a:rPr sz="2600" b="1">
                <a:solidFill>
                  <a:srgbClr val="F0F6FF"/>
                </a:solidFill>
                <a:latin typeface="Aptos"/>
              </a:rPr>
              <a:t>Agent 4 — Managing Agent</a:t>
            </a:r>
          </a:p>
        </p:txBody>
      </p:sp>
      <p:sp>
        <p:nvSpPr>
          <p:cNvPr id="3" name="TextBox 2"/>
          <p:cNvSpPr txBox="1"/>
          <p:nvPr/>
        </p:nvSpPr>
        <p:spPr>
          <a:xfrm>
            <a:off x="621792" y="832104"/>
            <a:ext cx="10972800" cy="292608"/>
          </a:xfrm>
          <a:prstGeom prst="rect">
            <a:avLst/>
          </a:prstGeom>
          <a:noFill/>
        </p:spPr>
        <p:txBody>
          <a:bodyPr wrap="square" lIns="36576" rIns="36576" tIns="18288" bIns="18288">
            <a:spAutoFit/>
          </a:bodyPr>
          <a:lstStyle/>
          <a:p>
            <a:pPr algn="l"/>
            <a:r>
              <a:rPr sz="1100" b="0">
                <a:solidFill>
                  <a:srgbClr val="A0B3CD"/>
                </a:solidFill>
                <a:latin typeface="Aptos"/>
              </a:rPr>
              <a:t>Orchestrate the pipeline, apply quality gates, and return an actionable decision.</a:t>
            </a:r>
          </a:p>
        </p:txBody>
      </p:sp>
      <p:sp>
        <p:nvSpPr>
          <p:cNvPr id="4" name="Rectangle 3"/>
          <p:cNvSpPr/>
          <p:nvPr/>
        </p:nvSpPr>
        <p:spPr>
          <a:xfrm>
            <a:off x="621792" y="1225296"/>
            <a:ext cx="960120" cy="41148"/>
          </a:xfrm>
          <a:prstGeom prst="rect">
            <a:avLst/>
          </a:prstGeom>
          <a:solidFill>
            <a:srgbClr val="2FDCC2"/>
          </a:solidFill>
          <a:ln>
            <a:solidFill>
              <a:srgbClr val="2FDC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6510528"/>
            <a:ext cx="8229600" cy="164592"/>
          </a:xfrm>
          <a:prstGeom prst="rect">
            <a:avLst/>
          </a:prstGeom>
          <a:noFill/>
        </p:spPr>
        <p:txBody>
          <a:bodyPr wrap="square" lIns="36576" rIns="36576" tIns="18288" bIns="18288">
            <a:spAutoFit/>
          </a:bodyPr>
          <a:lstStyle/>
          <a:p>
            <a:pPr algn="l"/>
            <a:r>
              <a:rPr sz="800" b="1">
                <a:solidFill>
                  <a:srgbClr val="A0B3CD"/>
                </a:solidFill>
                <a:latin typeface="Aptos"/>
              </a:rPr>
              <a:t>VANI GTM MULTI-AGENT SYSTEM  •  ASSIGNMENT DEMO</a:t>
            </a:r>
          </a:p>
        </p:txBody>
      </p:sp>
      <p:sp>
        <p:nvSpPr>
          <p:cNvPr id="6" name="TextBox 5"/>
          <p:cNvSpPr txBox="1"/>
          <p:nvPr/>
        </p:nvSpPr>
        <p:spPr>
          <a:xfrm>
            <a:off x="11064240" y="6473952"/>
            <a:ext cx="457200" cy="182880"/>
          </a:xfrm>
          <a:prstGeom prst="rect">
            <a:avLst/>
          </a:prstGeom>
          <a:noFill/>
        </p:spPr>
        <p:txBody>
          <a:bodyPr wrap="square" lIns="36576" rIns="36576" tIns="18288" bIns="18288">
            <a:spAutoFit/>
          </a:bodyPr>
          <a:lstStyle/>
          <a:p>
            <a:pPr algn="r"/>
            <a:r>
              <a:rPr sz="900" b="1">
                <a:solidFill>
                  <a:srgbClr val="A0B3CD"/>
                </a:solidFill>
                <a:latin typeface="Aptos"/>
              </a:rPr>
              <a:t>07</a:t>
            </a:r>
          </a:p>
        </p:txBody>
      </p:sp>
      <p:sp>
        <p:nvSpPr>
          <p:cNvPr id="7" name="Rounded Rectangle 6"/>
          <p:cNvSpPr/>
          <p:nvPr/>
        </p:nvSpPr>
        <p:spPr>
          <a:xfrm>
            <a:off x="685800" y="1554480"/>
            <a:ext cx="3474720" cy="3840480"/>
          </a:xfrm>
          <a:prstGeom prst="roundRect">
            <a:avLst/>
          </a:prstGeom>
          <a:solidFill>
            <a:srgbClr val="131E31"/>
          </a:solidFill>
          <a:ln>
            <a:solidFill>
              <a:srgbClr val="1928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1554480"/>
            <a:ext cx="64008" cy="3840480"/>
          </a:xfrm>
          <a:prstGeom prst="rect">
            <a:avLst/>
          </a:prstGeom>
          <a:solidFill>
            <a:srgbClr val="FFBE4B"/>
          </a:solidFill>
          <a:ln>
            <a:solidFill>
              <a:srgbClr val="FFBE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1719072"/>
            <a:ext cx="3108960" cy="347472"/>
          </a:xfrm>
          <a:prstGeom prst="rect">
            <a:avLst/>
          </a:prstGeom>
          <a:noFill/>
        </p:spPr>
        <p:txBody>
          <a:bodyPr wrap="square" lIns="36576" rIns="36576" tIns="18288" bIns="18288">
            <a:spAutoFit/>
          </a:bodyPr>
          <a:lstStyle/>
          <a:p>
            <a:pPr algn="l"/>
            <a:r>
              <a:rPr sz="1600" b="1">
                <a:solidFill>
                  <a:srgbClr val="F0F6FF"/>
                </a:solidFill>
                <a:latin typeface="Aptos"/>
              </a:rPr>
              <a:t>Quality checks</a:t>
            </a:r>
          </a:p>
        </p:txBody>
      </p:sp>
      <p:sp>
        <p:nvSpPr>
          <p:cNvPr id="10" name="TextBox 9"/>
          <p:cNvSpPr txBox="1"/>
          <p:nvPr/>
        </p:nvSpPr>
        <p:spPr>
          <a:xfrm>
            <a:off x="886968" y="2194560"/>
            <a:ext cx="3090672" cy="3090672"/>
          </a:xfrm>
          <a:prstGeom prst="rect">
            <a:avLst/>
          </a:prstGeom>
          <a:noFill/>
        </p:spPr>
        <p:txBody>
          <a:bodyPr wrap="square" lIns="27432" rIns="27432" tIns="18288">
            <a:spAutoFit/>
          </a:bodyPr>
          <a:lstStyle/>
          <a:p>
            <a:pPr>
              <a:spcAft>
                <a:spcPts val="700"/>
              </a:spcAft>
              <a:defRPr sz="1300">
                <a:solidFill>
                  <a:srgbClr val="A0B3CD"/>
                </a:solidFill>
                <a:latin typeface="Aptos"/>
              </a:defRPr>
            </a:pPr>
            <a:r>
              <a:t>•  Source URL present and plausible</a:t>
            </a:r>
          </a:p>
          <a:p>
            <a:pPr>
              <a:spcAft>
                <a:spcPts val="700"/>
              </a:spcAft>
              <a:defRPr sz="1300">
                <a:solidFill>
                  <a:srgbClr val="A0B3CD"/>
                </a:solidFill>
                <a:latin typeface="Aptos"/>
              </a:defRPr>
            </a:pPr>
            <a:r>
              <a:t>•  Evidence and signal summary present</a:t>
            </a:r>
          </a:p>
          <a:p>
            <a:pPr>
              <a:spcAft>
                <a:spcPts val="700"/>
              </a:spcAft>
              <a:defRPr sz="1300">
                <a:solidFill>
                  <a:srgbClr val="A0B3CD"/>
                </a:solidFill>
                <a:latin typeface="Aptos"/>
              </a:defRPr>
            </a:pPr>
            <a:r>
              <a:t>•  Message grounded in the signal</a:t>
            </a:r>
          </a:p>
          <a:p>
            <a:pPr>
              <a:spcAft>
                <a:spcPts val="700"/>
              </a:spcAft>
              <a:defRPr sz="1300">
                <a:solidFill>
                  <a:srgbClr val="A0B3CD"/>
                </a:solidFill>
                <a:latin typeface="Aptos"/>
              </a:defRPr>
            </a:pPr>
            <a:r>
              <a:t>•  Contact/persona verification</a:t>
            </a:r>
          </a:p>
          <a:p>
            <a:pPr>
              <a:spcAft>
                <a:spcPts val="700"/>
              </a:spcAft>
              <a:defRPr sz="1300">
                <a:solidFill>
                  <a:srgbClr val="A0B3CD"/>
                </a:solidFill>
                <a:latin typeface="Aptos"/>
              </a:defRPr>
            </a:pPr>
            <a:r>
              <a:t>•  Duplicate and suppression checks</a:t>
            </a:r>
          </a:p>
        </p:txBody>
      </p:sp>
      <p:sp>
        <p:nvSpPr>
          <p:cNvPr id="11" name="Rounded Rectangle 10"/>
          <p:cNvSpPr/>
          <p:nvPr/>
        </p:nvSpPr>
        <p:spPr>
          <a:xfrm>
            <a:off x="4370832" y="1554480"/>
            <a:ext cx="3474720" cy="3840480"/>
          </a:xfrm>
          <a:prstGeom prst="roundRect">
            <a:avLst/>
          </a:prstGeom>
          <a:solidFill>
            <a:srgbClr val="131E31"/>
          </a:solidFill>
          <a:ln>
            <a:solidFill>
              <a:srgbClr val="1928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0832" y="1554480"/>
            <a:ext cx="64008" cy="3840480"/>
          </a:xfrm>
          <a:prstGeom prst="rect">
            <a:avLst/>
          </a:prstGeom>
          <a:solidFill>
            <a:srgbClr val="2FDCC2"/>
          </a:solidFill>
          <a:ln>
            <a:solidFill>
              <a:srgbClr val="2FDC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719072"/>
            <a:ext cx="3108960" cy="347472"/>
          </a:xfrm>
          <a:prstGeom prst="rect">
            <a:avLst/>
          </a:prstGeom>
          <a:noFill/>
        </p:spPr>
        <p:txBody>
          <a:bodyPr wrap="square" lIns="36576" rIns="36576" tIns="18288" bIns="18288">
            <a:spAutoFit/>
          </a:bodyPr>
          <a:lstStyle/>
          <a:p>
            <a:pPr algn="l"/>
            <a:r>
              <a:rPr sz="1600" b="1">
                <a:solidFill>
                  <a:srgbClr val="F0F6FF"/>
                </a:solidFill>
                <a:latin typeface="Aptos"/>
              </a:rPr>
              <a:t>Decision logic</a:t>
            </a:r>
          </a:p>
        </p:txBody>
      </p:sp>
      <p:sp>
        <p:nvSpPr>
          <p:cNvPr id="14" name="TextBox 13"/>
          <p:cNvSpPr txBox="1"/>
          <p:nvPr/>
        </p:nvSpPr>
        <p:spPr>
          <a:xfrm>
            <a:off x="4572000" y="2194560"/>
            <a:ext cx="3090672" cy="3090672"/>
          </a:xfrm>
          <a:prstGeom prst="rect">
            <a:avLst/>
          </a:prstGeom>
          <a:noFill/>
        </p:spPr>
        <p:txBody>
          <a:bodyPr wrap="square" lIns="27432" rIns="27432" tIns="18288">
            <a:spAutoFit/>
          </a:bodyPr>
          <a:lstStyle/>
          <a:p>
            <a:pPr>
              <a:spcAft>
                <a:spcPts val="700"/>
              </a:spcAft>
              <a:defRPr sz="1300">
                <a:solidFill>
                  <a:srgbClr val="A0B3CD"/>
                </a:solidFill>
                <a:latin typeface="Aptos"/>
              </a:defRPr>
            </a:pPr>
            <a:r>
              <a:t>•  Block when required evidence is missing</a:t>
            </a:r>
          </a:p>
          <a:p>
            <a:pPr>
              <a:spcAft>
                <a:spcPts val="700"/>
              </a:spcAft>
              <a:defRPr sz="1300">
                <a:solidFill>
                  <a:srgbClr val="A0B3CD"/>
                </a:solidFill>
                <a:latin typeface="Aptos"/>
              </a:defRPr>
            </a:pPr>
            <a:r>
              <a:t>•  Route uncertain leads to human review</a:t>
            </a:r>
          </a:p>
          <a:p>
            <a:pPr>
              <a:spcAft>
                <a:spcPts val="700"/>
              </a:spcAft>
              <a:defRPr sz="1300">
                <a:solidFill>
                  <a:srgbClr val="A0B3CD"/>
                </a:solidFill>
                <a:latin typeface="Aptos"/>
              </a:defRPr>
            </a:pPr>
            <a:r>
              <a:t>•  Require approval before outreach</a:t>
            </a:r>
          </a:p>
          <a:p>
            <a:pPr>
              <a:spcAft>
                <a:spcPts val="700"/>
              </a:spcAft>
              <a:defRPr sz="1300">
                <a:solidFill>
                  <a:srgbClr val="A0B3CD"/>
                </a:solidFill>
                <a:latin typeface="Aptos"/>
              </a:defRPr>
            </a:pPr>
            <a:r>
              <a:t>•  Record decision and next action</a:t>
            </a:r>
          </a:p>
          <a:p>
            <a:pPr>
              <a:spcAft>
                <a:spcPts val="700"/>
              </a:spcAft>
              <a:defRPr sz="1300">
                <a:solidFill>
                  <a:srgbClr val="A0B3CD"/>
                </a:solidFill>
                <a:latin typeface="Aptos"/>
              </a:defRPr>
            </a:pPr>
            <a:r>
              <a:t>•  Preserve traceability</a:t>
            </a:r>
          </a:p>
        </p:txBody>
      </p:sp>
      <p:sp>
        <p:nvSpPr>
          <p:cNvPr id="15" name="Rounded Rectangle 14"/>
          <p:cNvSpPr/>
          <p:nvPr/>
        </p:nvSpPr>
        <p:spPr>
          <a:xfrm>
            <a:off x="8046720" y="1554480"/>
            <a:ext cx="3474720" cy="3840480"/>
          </a:xfrm>
          <a:prstGeom prst="roundRect">
            <a:avLst/>
          </a:prstGeom>
          <a:solidFill>
            <a:srgbClr val="131E31"/>
          </a:solidFill>
          <a:ln>
            <a:solidFill>
              <a:srgbClr val="1928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6720" y="1554480"/>
            <a:ext cx="64008" cy="3840480"/>
          </a:xfrm>
          <a:prstGeom prst="rect">
            <a:avLst/>
          </a:prstGeom>
          <a:solidFill>
            <a:srgbClr val="579DFF"/>
          </a:solidFill>
          <a:ln>
            <a:solidFill>
              <a:srgbClr val="579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47888" y="1719072"/>
            <a:ext cx="3108960" cy="347472"/>
          </a:xfrm>
          <a:prstGeom prst="rect">
            <a:avLst/>
          </a:prstGeom>
          <a:noFill/>
        </p:spPr>
        <p:txBody>
          <a:bodyPr wrap="square" lIns="36576" rIns="36576" tIns="18288" bIns="18288">
            <a:spAutoFit/>
          </a:bodyPr>
          <a:lstStyle/>
          <a:p>
            <a:pPr algn="l"/>
            <a:r>
              <a:rPr sz="1600" b="1">
                <a:solidFill>
                  <a:srgbClr val="F0F6FF"/>
                </a:solidFill>
                <a:latin typeface="Aptos"/>
              </a:rPr>
              <a:t>Final outputs</a:t>
            </a:r>
          </a:p>
        </p:txBody>
      </p:sp>
      <p:sp>
        <p:nvSpPr>
          <p:cNvPr id="18" name="TextBox 17"/>
          <p:cNvSpPr txBox="1"/>
          <p:nvPr/>
        </p:nvSpPr>
        <p:spPr>
          <a:xfrm>
            <a:off x="8247888" y="2194560"/>
            <a:ext cx="3090672" cy="3090672"/>
          </a:xfrm>
          <a:prstGeom prst="rect">
            <a:avLst/>
          </a:prstGeom>
          <a:noFill/>
        </p:spPr>
        <p:txBody>
          <a:bodyPr wrap="square" lIns="27432" rIns="27432" tIns="18288">
            <a:spAutoFit/>
          </a:bodyPr>
          <a:lstStyle/>
          <a:p>
            <a:pPr>
              <a:spcAft>
                <a:spcPts val="700"/>
              </a:spcAft>
              <a:defRPr sz="1300">
                <a:solidFill>
                  <a:srgbClr val="A0B3CD"/>
                </a:solidFill>
                <a:latin typeface="Aptos"/>
              </a:defRPr>
            </a:pPr>
            <a:r>
              <a:t>•  Structured final_output.json</a:t>
            </a:r>
          </a:p>
          <a:p>
            <a:pPr>
              <a:spcAft>
                <a:spcPts val="700"/>
              </a:spcAft>
              <a:defRPr sz="1300">
                <a:solidFill>
                  <a:srgbClr val="A0B3CD"/>
                </a:solidFill>
                <a:latin typeface="Aptos"/>
              </a:defRPr>
            </a:pPr>
            <a:r>
              <a:t>•  Readable final_report.md</a:t>
            </a:r>
          </a:p>
          <a:p>
            <a:pPr>
              <a:spcAft>
                <a:spcPts val="700"/>
              </a:spcAft>
              <a:defRPr sz="1300">
                <a:solidFill>
                  <a:srgbClr val="A0B3CD"/>
                </a:solidFill>
                <a:latin typeface="Aptos"/>
              </a:defRPr>
            </a:pPr>
            <a:r>
              <a:t>•  qualified_leads.csv</a:t>
            </a:r>
          </a:p>
          <a:p>
            <a:pPr>
              <a:spcAft>
                <a:spcPts val="700"/>
              </a:spcAft>
              <a:defRPr sz="1300">
                <a:solidFill>
                  <a:srgbClr val="A0B3CD"/>
                </a:solidFill>
                <a:latin typeface="Aptos"/>
              </a:defRPr>
            </a:pPr>
            <a:r>
              <a:t>•  Review status and action plan</a:t>
            </a:r>
          </a:p>
          <a:p>
            <a:pPr>
              <a:spcAft>
                <a:spcPts val="700"/>
              </a:spcAft>
              <a:defRPr sz="1300">
                <a:solidFill>
                  <a:srgbClr val="A0B3CD"/>
                </a:solidFill>
                <a:latin typeface="Aptos"/>
              </a:defRPr>
            </a:pPr>
            <a:r>
              <a:t>•  Audit-friendly record</a:t>
            </a:r>
          </a:p>
        </p:txBody>
      </p:sp>
      <p:sp>
        <p:nvSpPr>
          <p:cNvPr id="19" name="TextBox 18"/>
          <p:cNvSpPr txBox="1"/>
          <p:nvPr/>
        </p:nvSpPr>
        <p:spPr>
          <a:xfrm>
            <a:off x="749808" y="5669280"/>
            <a:ext cx="10607040" cy="320040"/>
          </a:xfrm>
          <a:prstGeom prst="rect">
            <a:avLst/>
          </a:prstGeom>
          <a:noFill/>
        </p:spPr>
        <p:txBody>
          <a:bodyPr wrap="square" lIns="36576" rIns="36576" tIns="18288" bIns="18288">
            <a:spAutoFit/>
          </a:bodyPr>
          <a:lstStyle/>
          <a:p>
            <a:pPr algn="l"/>
            <a:r>
              <a:rPr sz="1400" b="1">
                <a:solidFill>
                  <a:srgbClr val="FF6E82"/>
                </a:solidFill>
                <a:latin typeface="Aptos"/>
              </a:rPr>
              <a:t>A high heuristic score must never bypass evidence verification or approval.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11F"/>
        </a:solidFill>
        <a:effectLst/>
      </p:bgPr>
    </p:bg>
    <p:spTree>
      <p:nvGrpSpPr>
        <p:cNvPr id="1" name=""/>
        <p:cNvGrpSpPr/>
        <p:nvPr/>
      </p:nvGrpSpPr>
      <p:grpSpPr/>
      <p:sp>
        <p:nvSpPr>
          <p:cNvPr id="2" name="TextBox 1"/>
          <p:cNvSpPr txBox="1"/>
          <p:nvPr/>
        </p:nvSpPr>
        <p:spPr>
          <a:xfrm>
            <a:off x="594360" y="292608"/>
            <a:ext cx="10972800" cy="457200"/>
          </a:xfrm>
          <a:prstGeom prst="rect">
            <a:avLst/>
          </a:prstGeom>
          <a:noFill/>
        </p:spPr>
        <p:txBody>
          <a:bodyPr wrap="square" lIns="36576" rIns="36576" tIns="18288" bIns="18288">
            <a:spAutoFit/>
          </a:bodyPr>
          <a:lstStyle/>
          <a:p>
            <a:pPr algn="l"/>
            <a:r>
              <a:rPr sz="2600" b="1">
                <a:solidFill>
                  <a:srgbClr val="F0F6FF"/>
                </a:solidFill>
                <a:latin typeface="Aptos"/>
              </a:rPr>
              <a:t>Illustrative Demo Result</a:t>
            </a:r>
          </a:p>
        </p:txBody>
      </p:sp>
      <p:sp>
        <p:nvSpPr>
          <p:cNvPr id="3" name="TextBox 2"/>
          <p:cNvSpPr txBox="1"/>
          <p:nvPr/>
        </p:nvSpPr>
        <p:spPr>
          <a:xfrm>
            <a:off x="621792" y="832104"/>
            <a:ext cx="10972800" cy="292608"/>
          </a:xfrm>
          <a:prstGeom prst="rect">
            <a:avLst/>
          </a:prstGeom>
          <a:noFill/>
        </p:spPr>
        <p:txBody>
          <a:bodyPr wrap="square" lIns="36576" rIns="36576" tIns="18288" bIns="18288">
            <a:spAutoFit/>
          </a:bodyPr>
          <a:lstStyle/>
          <a:p>
            <a:pPr algn="l"/>
            <a:r>
              <a:rPr sz="1100" b="0">
                <a:solidFill>
                  <a:srgbClr val="A0B3CD"/>
                </a:solidFill>
                <a:latin typeface="Aptos"/>
              </a:rPr>
              <a:t>Example record shape; re-check live sources before use.</a:t>
            </a:r>
          </a:p>
        </p:txBody>
      </p:sp>
      <p:sp>
        <p:nvSpPr>
          <p:cNvPr id="4" name="Rectangle 3"/>
          <p:cNvSpPr/>
          <p:nvPr/>
        </p:nvSpPr>
        <p:spPr>
          <a:xfrm>
            <a:off x="621792" y="1225296"/>
            <a:ext cx="960120" cy="41148"/>
          </a:xfrm>
          <a:prstGeom prst="rect">
            <a:avLst/>
          </a:prstGeom>
          <a:solidFill>
            <a:srgbClr val="2FDCC2"/>
          </a:solidFill>
          <a:ln>
            <a:solidFill>
              <a:srgbClr val="2FDC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6510528"/>
            <a:ext cx="8229600" cy="164592"/>
          </a:xfrm>
          <a:prstGeom prst="rect">
            <a:avLst/>
          </a:prstGeom>
          <a:noFill/>
        </p:spPr>
        <p:txBody>
          <a:bodyPr wrap="square" lIns="36576" rIns="36576" tIns="18288" bIns="18288">
            <a:spAutoFit/>
          </a:bodyPr>
          <a:lstStyle/>
          <a:p>
            <a:pPr algn="l"/>
            <a:r>
              <a:rPr sz="800" b="1">
                <a:solidFill>
                  <a:srgbClr val="A0B3CD"/>
                </a:solidFill>
                <a:latin typeface="Aptos"/>
              </a:rPr>
              <a:t>VANI GTM MULTI-AGENT SYSTEM  •  ASSIGNMENT DEMO</a:t>
            </a:r>
          </a:p>
        </p:txBody>
      </p:sp>
      <p:sp>
        <p:nvSpPr>
          <p:cNvPr id="6" name="TextBox 5"/>
          <p:cNvSpPr txBox="1"/>
          <p:nvPr/>
        </p:nvSpPr>
        <p:spPr>
          <a:xfrm>
            <a:off x="11064240" y="6473952"/>
            <a:ext cx="457200" cy="182880"/>
          </a:xfrm>
          <a:prstGeom prst="rect">
            <a:avLst/>
          </a:prstGeom>
          <a:noFill/>
        </p:spPr>
        <p:txBody>
          <a:bodyPr wrap="square" lIns="36576" rIns="36576" tIns="18288" bIns="18288">
            <a:spAutoFit/>
          </a:bodyPr>
          <a:lstStyle/>
          <a:p>
            <a:pPr algn="r"/>
            <a:r>
              <a:rPr sz="900" b="1">
                <a:solidFill>
                  <a:srgbClr val="A0B3CD"/>
                </a:solidFill>
                <a:latin typeface="Aptos"/>
              </a:rPr>
              <a:t>08</a:t>
            </a:r>
          </a:p>
        </p:txBody>
      </p:sp>
      <p:sp>
        <p:nvSpPr>
          <p:cNvPr id="7" name="Rounded Rectangle 6"/>
          <p:cNvSpPr/>
          <p:nvPr/>
        </p:nvSpPr>
        <p:spPr>
          <a:xfrm>
            <a:off x="713232" y="1554480"/>
            <a:ext cx="2542032" cy="1143000"/>
          </a:xfrm>
          <a:prstGeom prst="roundRect">
            <a:avLst/>
          </a:prstGeom>
          <a:solidFill>
            <a:srgbClr val="131E31"/>
          </a:solidFill>
          <a:ln>
            <a:solidFill>
              <a:srgbClr val="1928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0392" y="1737360"/>
            <a:ext cx="2240280" cy="411480"/>
          </a:xfrm>
          <a:prstGeom prst="rect">
            <a:avLst/>
          </a:prstGeom>
          <a:noFill/>
        </p:spPr>
        <p:txBody>
          <a:bodyPr wrap="square" lIns="36576" rIns="36576" tIns="18288" bIns="18288">
            <a:spAutoFit/>
          </a:bodyPr>
          <a:lstStyle/>
          <a:p>
            <a:pPr algn="ctr"/>
            <a:r>
              <a:rPr sz="2400" b="1">
                <a:solidFill>
                  <a:srgbClr val="2FDCC2"/>
                </a:solidFill>
                <a:latin typeface="Aptos"/>
              </a:rPr>
              <a:t>01</a:t>
            </a:r>
          </a:p>
        </p:txBody>
      </p:sp>
      <p:sp>
        <p:nvSpPr>
          <p:cNvPr id="9" name="TextBox 8"/>
          <p:cNvSpPr txBox="1"/>
          <p:nvPr/>
        </p:nvSpPr>
        <p:spPr>
          <a:xfrm>
            <a:off x="850392" y="2221992"/>
            <a:ext cx="2240280" cy="228600"/>
          </a:xfrm>
          <a:prstGeom prst="rect">
            <a:avLst/>
          </a:prstGeom>
          <a:noFill/>
        </p:spPr>
        <p:txBody>
          <a:bodyPr wrap="square" lIns="36576" rIns="36576" tIns="18288" bIns="18288">
            <a:spAutoFit/>
          </a:bodyPr>
          <a:lstStyle/>
          <a:p>
            <a:pPr algn="ctr"/>
            <a:r>
              <a:rPr sz="1100" b="0">
                <a:solidFill>
                  <a:srgbClr val="A0B3CD"/>
                </a:solidFill>
                <a:latin typeface="Aptos"/>
              </a:rPr>
              <a:t>Account processed</a:t>
            </a:r>
          </a:p>
        </p:txBody>
      </p:sp>
      <p:sp>
        <p:nvSpPr>
          <p:cNvPr id="10" name="Rounded Rectangle 9"/>
          <p:cNvSpPr/>
          <p:nvPr/>
        </p:nvSpPr>
        <p:spPr>
          <a:xfrm>
            <a:off x="3566160" y="1554480"/>
            <a:ext cx="2542032" cy="1143000"/>
          </a:xfrm>
          <a:prstGeom prst="roundRect">
            <a:avLst/>
          </a:prstGeom>
          <a:solidFill>
            <a:srgbClr val="131E31"/>
          </a:solidFill>
          <a:ln>
            <a:solidFill>
              <a:srgbClr val="1928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03320" y="1737360"/>
            <a:ext cx="2240280" cy="411480"/>
          </a:xfrm>
          <a:prstGeom prst="rect">
            <a:avLst/>
          </a:prstGeom>
          <a:noFill/>
        </p:spPr>
        <p:txBody>
          <a:bodyPr wrap="square" lIns="36576" rIns="36576" tIns="18288" bIns="18288">
            <a:spAutoFit/>
          </a:bodyPr>
          <a:lstStyle/>
          <a:p>
            <a:pPr algn="ctr"/>
            <a:r>
              <a:rPr sz="2400" b="1">
                <a:solidFill>
                  <a:srgbClr val="579DFF"/>
                </a:solidFill>
                <a:latin typeface="Aptos"/>
              </a:rPr>
              <a:t>80/100</a:t>
            </a:r>
          </a:p>
        </p:txBody>
      </p:sp>
      <p:sp>
        <p:nvSpPr>
          <p:cNvPr id="12" name="TextBox 11"/>
          <p:cNvSpPr txBox="1"/>
          <p:nvPr/>
        </p:nvSpPr>
        <p:spPr>
          <a:xfrm>
            <a:off x="3703320" y="2221992"/>
            <a:ext cx="2240280" cy="228600"/>
          </a:xfrm>
          <a:prstGeom prst="rect">
            <a:avLst/>
          </a:prstGeom>
          <a:noFill/>
        </p:spPr>
        <p:txBody>
          <a:bodyPr wrap="square" lIns="36576" rIns="36576" tIns="18288" bIns="18288">
            <a:spAutoFit/>
          </a:bodyPr>
          <a:lstStyle/>
          <a:p>
            <a:pPr algn="ctr"/>
            <a:r>
              <a:rPr sz="1100" b="0">
                <a:solidFill>
                  <a:srgbClr val="A0B3CD"/>
                </a:solidFill>
                <a:latin typeface="Aptos"/>
              </a:rPr>
              <a:t>Example ICP score</a:t>
            </a:r>
          </a:p>
        </p:txBody>
      </p:sp>
      <p:sp>
        <p:nvSpPr>
          <p:cNvPr id="13" name="Rounded Rectangle 12"/>
          <p:cNvSpPr/>
          <p:nvPr/>
        </p:nvSpPr>
        <p:spPr>
          <a:xfrm>
            <a:off x="6419088" y="1554480"/>
            <a:ext cx="2542032" cy="1143000"/>
          </a:xfrm>
          <a:prstGeom prst="roundRect">
            <a:avLst/>
          </a:prstGeom>
          <a:solidFill>
            <a:srgbClr val="131E31"/>
          </a:solidFill>
          <a:ln>
            <a:solidFill>
              <a:srgbClr val="1928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56248" y="1737360"/>
            <a:ext cx="2240280" cy="411480"/>
          </a:xfrm>
          <a:prstGeom prst="rect">
            <a:avLst/>
          </a:prstGeom>
          <a:noFill/>
        </p:spPr>
        <p:txBody>
          <a:bodyPr wrap="square" lIns="36576" rIns="36576" tIns="18288" bIns="18288">
            <a:spAutoFit/>
          </a:bodyPr>
          <a:lstStyle/>
          <a:p>
            <a:pPr algn="ctr"/>
            <a:r>
              <a:rPr sz="2400" b="1">
                <a:solidFill>
                  <a:srgbClr val="B482FF"/>
                </a:solidFill>
                <a:latin typeface="Aptos"/>
              </a:rPr>
              <a:t>1</a:t>
            </a:r>
          </a:p>
        </p:txBody>
      </p:sp>
      <p:sp>
        <p:nvSpPr>
          <p:cNvPr id="15" name="TextBox 14"/>
          <p:cNvSpPr txBox="1"/>
          <p:nvPr/>
        </p:nvSpPr>
        <p:spPr>
          <a:xfrm>
            <a:off x="6556248" y="2221992"/>
            <a:ext cx="2240280" cy="228600"/>
          </a:xfrm>
          <a:prstGeom prst="rect">
            <a:avLst/>
          </a:prstGeom>
          <a:noFill/>
        </p:spPr>
        <p:txBody>
          <a:bodyPr wrap="square" lIns="36576" rIns="36576" tIns="18288" bIns="18288">
            <a:spAutoFit/>
          </a:bodyPr>
          <a:lstStyle/>
          <a:p>
            <a:pPr algn="ctr"/>
            <a:r>
              <a:rPr sz="1100" b="0">
                <a:solidFill>
                  <a:srgbClr val="A0B3CD"/>
                </a:solidFill>
                <a:latin typeface="Aptos"/>
              </a:rPr>
              <a:t>Outreach draft</a:t>
            </a:r>
          </a:p>
        </p:txBody>
      </p:sp>
      <p:sp>
        <p:nvSpPr>
          <p:cNvPr id="16" name="Rounded Rectangle 15"/>
          <p:cNvSpPr/>
          <p:nvPr/>
        </p:nvSpPr>
        <p:spPr>
          <a:xfrm>
            <a:off x="9272015" y="1554480"/>
            <a:ext cx="2542032" cy="1143000"/>
          </a:xfrm>
          <a:prstGeom prst="roundRect">
            <a:avLst/>
          </a:prstGeom>
          <a:solidFill>
            <a:srgbClr val="131E31"/>
          </a:solidFill>
          <a:ln>
            <a:solidFill>
              <a:srgbClr val="1928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409176" y="1737360"/>
            <a:ext cx="2240280" cy="411480"/>
          </a:xfrm>
          <a:prstGeom prst="rect">
            <a:avLst/>
          </a:prstGeom>
          <a:noFill/>
        </p:spPr>
        <p:txBody>
          <a:bodyPr wrap="square" lIns="36576" rIns="36576" tIns="18288" bIns="18288">
            <a:spAutoFit/>
          </a:bodyPr>
          <a:lstStyle/>
          <a:p>
            <a:pPr algn="ctr"/>
            <a:r>
              <a:rPr sz="2400" b="1">
                <a:solidFill>
                  <a:srgbClr val="FFBE4B"/>
                </a:solidFill>
                <a:latin typeface="Aptos"/>
              </a:rPr>
              <a:t>0</a:t>
            </a:r>
          </a:p>
        </p:txBody>
      </p:sp>
      <p:sp>
        <p:nvSpPr>
          <p:cNvPr id="18" name="TextBox 17"/>
          <p:cNvSpPr txBox="1"/>
          <p:nvPr/>
        </p:nvSpPr>
        <p:spPr>
          <a:xfrm>
            <a:off x="9409176" y="2221992"/>
            <a:ext cx="2240280" cy="228600"/>
          </a:xfrm>
          <a:prstGeom prst="rect">
            <a:avLst/>
          </a:prstGeom>
          <a:noFill/>
        </p:spPr>
        <p:txBody>
          <a:bodyPr wrap="square" lIns="36576" rIns="36576" tIns="18288" bIns="18288">
            <a:spAutoFit/>
          </a:bodyPr>
          <a:lstStyle/>
          <a:p>
            <a:pPr algn="ctr"/>
            <a:r>
              <a:rPr sz="1100" b="0">
                <a:solidFill>
                  <a:srgbClr val="A0B3CD"/>
                </a:solidFill>
                <a:latin typeface="Aptos"/>
              </a:rPr>
              <a:t>Messages sent</a:t>
            </a:r>
          </a:p>
        </p:txBody>
      </p:sp>
      <p:sp>
        <p:nvSpPr>
          <p:cNvPr id="19" name="Rounded Rectangle 18"/>
          <p:cNvSpPr/>
          <p:nvPr/>
        </p:nvSpPr>
        <p:spPr>
          <a:xfrm>
            <a:off x="713232" y="3063240"/>
            <a:ext cx="5257800" cy="2240280"/>
          </a:xfrm>
          <a:prstGeom prst="roundRect">
            <a:avLst/>
          </a:prstGeom>
          <a:solidFill>
            <a:srgbClr val="131E31"/>
          </a:solidFill>
          <a:ln>
            <a:solidFill>
              <a:srgbClr val="1928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13232" y="3063240"/>
            <a:ext cx="64008" cy="2240280"/>
          </a:xfrm>
          <a:prstGeom prst="rect">
            <a:avLst/>
          </a:prstGeom>
          <a:solidFill>
            <a:srgbClr val="2FDCC2"/>
          </a:solidFill>
          <a:ln>
            <a:solidFill>
              <a:srgbClr val="2FDC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3227832"/>
            <a:ext cx="4892040" cy="347472"/>
          </a:xfrm>
          <a:prstGeom prst="rect">
            <a:avLst/>
          </a:prstGeom>
          <a:noFill/>
        </p:spPr>
        <p:txBody>
          <a:bodyPr wrap="square" lIns="36576" rIns="36576" tIns="18288" bIns="18288">
            <a:spAutoFit/>
          </a:bodyPr>
          <a:lstStyle/>
          <a:p>
            <a:pPr algn="l"/>
            <a:r>
              <a:rPr sz="1600" b="1">
                <a:solidFill>
                  <a:srgbClr val="F0F6FF"/>
                </a:solidFill>
                <a:latin typeface="Aptos"/>
              </a:rPr>
              <a:t>Sample account: Seismic</a:t>
            </a:r>
          </a:p>
        </p:txBody>
      </p:sp>
      <p:sp>
        <p:nvSpPr>
          <p:cNvPr id="22" name="TextBox 21"/>
          <p:cNvSpPr txBox="1"/>
          <p:nvPr/>
        </p:nvSpPr>
        <p:spPr>
          <a:xfrm>
            <a:off x="914400" y="3703320"/>
            <a:ext cx="4873752" cy="1490472"/>
          </a:xfrm>
          <a:prstGeom prst="rect">
            <a:avLst/>
          </a:prstGeom>
          <a:noFill/>
        </p:spPr>
        <p:txBody>
          <a:bodyPr wrap="square" lIns="27432" rIns="27432" tIns="18288">
            <a:spAutoFit/>
          </a:bodyPr>
          <a:lstStyle/>
          <a:p>
            <a:pPr>
              <a:spcAft>
                <a:spcPts val="700"/>
              </a:spcAft>
              <a:defRPr sz="1200">
                <a:solidFill>
                  <a:srgbClr val="A0B3CD"/>
                </a:solidFill>
                <a:latin typeface="Aptos"/>
              </a:defRPr>
            </a:pPr>
            <a:r>
              <a:t>•  Signal hypothesis: client-facing Solution Consultant role</a:t>
            </a:r>
          </a:p>
          <a:p>
            <a:pPr>
              <a:spcAft>
                <a:spcPts val="700"/>
              </a:spcAft>
              <a:defRPr sz="1200">
                <a:solidFill>
                  <a:srgbClr val="A0B3CD"/>
                </a:solidFill>
                <a:latin typeface="Aptos"/>
              </a:defRPr>
            </a:pPr>
            <a:r>
              <a:t>•  Possible use case: coaching for customer-facing teams</a:t>
            </a:r>
          </a:p>
          <a:p>
            <a:pPr>
              <a:spcAft>
                <a:spcPts val="700"/>
              </a:spcAft>
              <a:defRPr sz="1200">
                <a:solidFill>
                  <a:srgbClr val="A0B3CD"/>
                </a:solidFill>
                <a:latin typeface="Aptos"/>
              </a:defRPr>
            </a:pPr>
            <a:r>
              <a:t>•  Persona remains unverified; source must be rechecked</a:t>
            </a:r>
          </a:p>
        </p:txBody>
      </p:sp>
      <p:sp>
        <p:nvSpPr>
          <p:cNvPr id="23" name="Rounded Rectangle 22"/>
          <p:cNvSpPr/>
          <p:nvPr/>
        </p:nvSpPr>
        <p:spPr>
          <a:xfrm>
            <a:off x="6199632" y="3063240"/>
            <a:ext cx="5257800" cy="2240280"/>
          </a:xfrm>
          <a:prstGeom prst="roundRect">
            <a:avLst/>
          </a:prstGeom>
          <a:solidFill>
            <a:srgbClr val="131E31"/>
          </a:solidFill>
          <a:ln>
            <a:solidFill>
              <a:srgbClr val="1928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99632" y="3063240"/>
            <a:ext cx="64008" cy="2240280"/>
          </a:xfrm>
          <a:prstGeom prst="rect">
            <a:avLst/>
          </a:prstGeom>
          <a:solidFill>
            <a:srgbClr val="FFBE4B"/>
          </a:solidFill>
          <a:ln>
            <a:solidFill>
              <a:srgbClr val="FFBE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0" y="3227832"/>
            <a:ext cx="4892040" cy="347472"/>
          </a:xfrm>
          <a:prstGeom prst="rect">
            <a:avLst/>
          </a:prstGeom>
          <a:noFill/>
        </p:spPr>
        <p:txBody>
          <a:bodyPr wrap="square" lIns="36576" rIns="36576" tIns="18288" bIns="18288">
            <a:spAutoFit/>
          </a:bodyPr>
          <a:lstStyle/>
          <a:p>
            <a:pPr algn="l"/>
            <a:r>
              <a:rPr sz="1600" b="1">
                <a:solidFill>
                  <a:srgbClr val="F0F6FF"/>
                </a:solidFill>
                <a:latin typeface="Aptos"/>
              </a:rPr>
              <a:t>Managing Agent result</a:t>
            </a:r>
          </a:p>
        </p:txBody>
      </p:sp>
      <p:sp>
        <p:nvSpPr>
          <p:cNvPr id="26" name="TextBox 25"/>
          <p:cNvSpPr txBox="1"/>
          <p:nvPr/>
        </p:nvSpPr>
        <p:spPr>
          <a:xfrm>
            <a:off x="6400800" y="3703320"/>
            <a:ext cx="4873752" cy="1490472"/>
          </a:xfrm>
          <a:prstGeom prst="rect">
            <a:avLst/>
          </a:prstGeom>
          <a:noFill/>
        </p:spPr>
        <p:txBody>
          <a:bodyPr wrap="square" lIns="27432" rIns="27432" tIns="18288">
            <a:spAutoFit/>
          </a:bodyPr>
          <a:lstStyle/>
          <a:p>
            <a:pPr>
              <a:spcAft>
                <a:spcPts val="700"/>
              </a:spcAft>
              <a:defRPr sz="1200">
                <a:solidFill>
                  <a:srgbClr val="A0B3CD"/>
                </a:solidFill>
                <a:latin typeface="Aptos"/>
              </a:defRPr>
            </a:pPr>
            <a:r>
              <a:t>•  Decision: pending_human_review</a:t>
            </a:r>
          </a:p>
          <a:p>
            <a:pPr>
              <a:spcAft>
                <a:spcPts val="700"/>
              </a:spcAft>
              <a:defRPr sz="1200">
                <a:solidFill>
                  <a:srgbClr val="A0B3CD"/>
                </a:solidFill>
                <a:latin typeface="Aptos"/>
              </a:defRPr>
            </a:pPr>
            <a:r>
              <a:t>•  Need and contact are not independently verified</a:t>
            </a:r>
          </a:p>
          <a:p>
            <a:pPr>
              <a:spcAft>
                <a:spcPts val="700"/>
              </a:spcAft>
              <a:defRPr sz="1200">
                <a:solidFill>
                  <a:srgbClr val="A0B3CD"/>
                </a:solidFill>
                <a:latin typeface="Aptos"/>
              </a:defRPr>
            </a:pPr>
            <a:r>
              <a:t>•  Next: validate source, confirm persona, review draft</a:t>
            </a:r>
          </a:p>
        </p:txBody>
      </p:sp>
      <p:sp>
        <p:nvSpPr>
          <p:cNvPr id="27" name="TextBox 26"/>
          <p:cNvSpPr txBox="1"/>
          <p:nvPr/>
        </p:nvSpPr>
        <p:spPr>
          <a:xfrm>
            <a:off x="758952" y="5687568"/>
            <a:ext cx="10607040" cy="274320"/>
          </a:xfrm>
          <a:prstGeom prst="rect">
            <a:avLst/>
          </a:prstGeom>
          <a:noFill/>
        </p:spPr>
        <p:txBody>
          <a:bodyPr wrap="square" lIns="36576" rIns="36576" tIns="18288" bIns="18288">
            <a:spAutoFit/>
          </a:bodyPr>
          <a:lstStyle/>
          <a:p>
            <a:pPr algn="l"/>
            <a:r>
              <a:rPr sz="1200" b="1">
                <a:solidFill>
                  <a:srgbClr val="A0B3CD"/>
                </a:solidFill>
                <a:latin typeface="Aptos"/>
              </a:rPr>
              <a:t>Illustrative demo—not confirmed buying intent or a verified sales opportunity.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11F"/>
        </a:solidFill>
        <a:effectLst/>
      </p:bgPr>
    </p:bg>
    <p:spTree>
      <p:nvGrpSpPr>
        <p:cNvPr id="1" name=""/>
        <p:cNvGrpSpPr/>
        <p:nvPr/>
      </p:nvGrpSpPr>
      <p:grpSpPr/>
      <p:sp>
        <p:nvSpPr>
          <p:cNvPr id="2" name="TextBox 1"/>
          <p:cNvSpPr txBox="1"/>
          <p:nvPr/>
        </p:nvSpPr>
        <p:spPr>
          <a:xfrm>
            <a:off x="594360" y="292608"/>
            <a:ext cx="10972800" cy="457200"/>
          </a:xfrm>
          <a:prstGeom prst="rect">
            <a:avLst/>
          </a:prstGeom>
          <a:noFill/>
        </p:spPr>
        <p:txBody>
          <a:bodyPr wrap="square" lIns="36576" rIns="36576" tIns="18288" bIns="18288">
            <a:spAutoFit/>
          </a:bodyPr>
          <a:lstStyle/>
          <a:p>
            <a:pPr algn="l"/>
            <a:r>
              <a:rPr sz="2600" b="1">
                <a:solidFill>
                  <a:srgbClr val="F0F6FF"/>
                </a:solidFill>
                <a:latin typeface="Aptos"/>
              </a:rPr>
              <a:t>Implementation &amp; Runbook</a:t>
            </a:r>
          </a:p>
        </p:txBody>
      </p:sp>
      <p:sp>
        <p:nvSpPr>
          <p:cNvPr id="3" name="TextBox 2"/>
          <p:cNvSpPr txBox="1"/>
          <p:nvPr/>
        </p:nvSpPr>
        <p:spPr>
          <a:xfrm>
            <a:off x="621792" y="832104"/>
            <a:ext cx="10972800" cy="292608"/>
          </a:xfrm>
          <a:prstGeom prst="rect">
            <a:avLst/>
          </a:prstGeom>
          <a:noFill/>
        </p:spPr>
        <p:txBody>
          <a:bodyPr wrap="square" lIns="36576" rIns="36576" tIns="18288" bIns="18288">
            <a:spAutoFit/>
          </a:bodyPr>
          <a:lstStyle/>
          <a:p>
            <a:pPr algn="l"/>
            <a:r>
              <a:rPr sz="1100" b="0">
                <a:solidFill>
                  <a:srgbClr val="A0B3CD"/>
                </a:solidFill>
                <a:latin typeface="Aptos"/>
              </a:rPr>
              <a:t>Local development architecture for React and FastAPI.</a:t>
            </a:r>
          </a:p>
        </p:txBody>
      </p:sp>
      <p:sp>
        <p:nvSpPr>
          <p:cNvPr id="4" name="Rectangle 3"/>
          <p:cNvSpPr/>
          <p:nvPr/>
        </p:nvSpPr>
        <p:spPr>
          <a:xfrm>
            <a:off x="621792" y="1225296"/>
            <a:ext cx="960120" cy="41148"/>
          </a:xfrm>
          <a:prstGeom prst="rect">
            <a:avLst/>
          </a:prstGeom>
          <a:solidFill>
            <a:srgbClr val="2FDCC2"/>
          </a:solidFill>
          <a:ln>
            <a:solidFill>
              <a:srgbClr val="2FDC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6510528"/>
            <a:ext cx="8229600" cy="164592"/>
          </a:xfrm>
          <a:prstGeom prst="rect">
            <a:avLst/>
          </a:prstGeom>
          <a:noFill/>
        </p:spPr>
        <p:txBody>
          <a:bodyPr wrap="square" lIns="36576" rIns="36576" tIns="18288" bIns="18288">
            <a:spAutoFit/>
          </a:bodyPr>
          <a:lstStyle/>
          <a:p>
            <a:pPr algn="l"/>
            <a:r>
              <a:rPr sz="800" b="1">
                <a:solidFill>
                  <a:srgbClr val="A0B3CD"/>
                </a:solidFill>
                <a:latin typeface="Aptos"/>
              </a:rPr>
              <a:t>VANI GTM MULTI-AGENT SYSTEM  •  ASSIGNMENT DEMO</a:t>
            </a:r>
          </a:p>
        </p:txBody>
      </p:sp>
      <p:sp>
        <p:nvSpPr>
          <p:cNvPr id="6" name="TextBox 5"/>
          <p:cNvSpPr txBox="1"/>
          <p:nvPr/>
        </p:nvSpPr>
        <p:spPr>
          <a:xfrm>
            <a:off x="11064240" y="6473952"/>
            <a:ext cx="457200" cy="182880"/>
          </a:xfrm>
          <a:prstGeom prst="rect">
            <a:avLst/>
          </a:prstGeom>
          <a:noFill/>
        </p:spPr>
        <p:txBody>
          <a:bodyPr wrap="square" lIns="36576" rIns="36576" tIns="18288" bIns="18288">
            <a:spAutoFit/>
          </a:bodyPr>
          <a:lstStyle/>
          <a:p>
            <a:pPr algn="r"/>
            <a:r>
              <a:rPr sz="900" b="1">
                <a:solidFill>
                  <a:srgbClr val="A0B3CD"/>
                </a:solidFill>
                <a:latin typeface="Aptos"/>
              </a:rPr>
              <a:t>09</a:t>
            </a:r>
          </a:p>
        </p:txBody>
      </p:sp>
      <p:sp>
        <p:nvSpPr>
          <p:cNvPr id="7" name="Rounded Rectangle 6"/>
          <p:cNvSpPr/>
          <p:nvPr/>
        </p:nvSpPr>
        <p:spPr>
          <a:xfrm>
            <a:off x="685800" y="1554480"/>
            <a:ext cx="3474720" cy="3611880"/>
          </a:xfrm>
          <a:prstGeom prst="roundRect">
            <a:avLst/>
          </a:prstGeom>
          <a:solidFill>
            <a:srgbClr val="131E31"/>
          </a:solidFill>
          <a:ln>
            <a:solidFill>
              <a:srgbClr val="1928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1554480"/>
            <a:ext cx="64008" cy="3611880"/>
          </a:xfrm>
          <a:prstGeom prst="rect">
            <a:avLst/>
          </a:prstGeom>
          <a:solidFill>
            <a:srgbClr val="579DFF"/>
          </a:solidFill>
          <a:ln>
            <a:solidFill>
              <a:srgbClr val="579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1719072"/>
            <a:ext cx="3108960" cy="347472"/>
          </a:xfrm>
          <a:prstGeom prst="rect">
            <a:avLst/>
          </a:prstGeom>
          <a:noFill/>
        </p:spPr>
        <p:txBody>
          <a:bodyPr wrap="square" lIns="36576" rIns="36576" tIns="18288" bIns="18288">
            <a:spAutoFit/>
          </a:bodyPr>
          <a:lstStyle/>
          <a:p>
            <a:pPr algn="l"/>
            <a:r>
              <a:rPr sz="1600" b="1">
                <a:solidFill>
                  <a:srgbClr val="F0F6FF"/>
                </a:solidFill>
                <a:latin typeface="Aptos"/>
              </a:rPr>
              <a:t>Frontend</a:t>
            </a:r>
          </a:p>
        </p:txBody>
      </p:sp>
      <p:sp>
        <p:nvSpPr>
          <p:cNvPr id="10" name="TextBox 9"/>
          <p:cNvSpPr txBox="1"/>
          <p:nvPr/>
        </p:nvSpPr>
        <p:spPr>
          <a:xfrm>
            <a:off x="886968" y="2194560"/>
            <a:ext cx="3090672" cy="2862072"/>
          </a:xfrm>
          <a:prstGeom prst="rect">
            <a:avLst/>
          </a:prstGeom>
          <a:noFill/>
        </p:spPr>
        <p:txBody>
          <a:bodyPr wrap="square" lIns="27432" rIns="27432" tIns="18288">
            <a:spAutoFit/>
          </a:bodyPr>
          <a:lstStyle/>
          <a:p>
            <a:pPr>
              <a:spcAft>
                <a:spcPts val="700"/>
              </a:spcAft>
              <a:defRPr sz="1300">
                <a:solidFill>
                  <a:srgbClr val="A0B3CD"/>
                </a:solidFill>
                <a:latin typeface="Aptos"/>
              </a:defRPr>
            </a:pPr>
            <a:r>
              <a:t>•  React dashboard (Vite)</a:t>
            </a:r>
          </a:p>
          <a:p>
            <a:pPr>
              <a:spcAft>
                <a:spcPts val="700"/>
              </a:spcAft>
              <a:defRPr sz="1300">
                <a:solidFill>
                  <a:srgbClr val="A0B3CD"/>
                </a:solidFill>
                <a:latin typeface="Aptos"/>
              </a:defRPr>
            </a:pPr>
            <a:r>
              <a:t>•  Prospect input form</a:t>
            </a:r>
          </a:p>
          <a:p>
            <a:pPr>
              <a:spcAft>
                <a:spcPts val="700"/>
              </a:spcAft>
              <a:defRPr sz="1300">
                <a:solidFill>
                  <a:srgbClr val="A0B3CD"/>
                </a:solidFill>
                <a:latin typeface="Aptos"/>
              </a:defRPr>
            </a:pPr>
            <a:r>
              <a:t>•  Agent execution stream</a:t>
            </a:r>
          </a:p>
          <a:p>
            <a:pPr>
              <a:spcAft>
                <a:spcPts val="700"/>
              </a:spcAft>
              <a:defRPr sz="1300">
                <a:solidFill>
                  <a:srgbClr val="A0B3CD"/>
                </a:solidFill>
                <a:latin typeface="Aptos"/>
              </a:defRPr>
            </a:pPr>
            <a:r>
              <a:t>•  Dossier, outreach and cadence views</a:t>
            </a:r>
          </a:p>
          <a:p>
            <a:pPr>
              <a:spcAft>
                <a:spcPts val="700"/>
              </a:spcAft>
              <a:defRPr sz="1300">
                <a:solidFill>
                  <a:srgbClr val="A0B3CD"/>
                </a:solidFill>
                <a:latin typeface="Aptos"/>
              </a:defRPr>
            </a:pPr>
            <a:r>
              <a:t>•  Common development port: 5173</a:t>
            </a:r>
          </a:p>
        </p:txBody>
      </p:sp>
      <p:sp>
        <p:nvSpPr>
          <p:cNvPr id="11" name="Rounded Rectangle 10"/>
          <p:cNvSpPr/>
          <p:nvPr/>
        </p:nvSpPr>
        <p:spPr>
          <a:xfrm>
            <a:off x="4370832" y="1554480"/>
            <a:ext cx="3474720" cy="3611880"/>
          </a:xfrm>
          <a:prstGeom prst="roundRect">
            <a:avLst/>
          </a:prstGeom>
          <a:solidFill>
            <a:srgbClr val="131E31"/>
          </a:solidFill>
          <a:ln>
            <a:solidFill>
              <a:srgbClr val="1928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0832" y="1554480"/>
            <a:ext cx="64008" cy="3611880"/>
          </a:xfrm>
          <a:prstGeom prst="rect">
            <a:avLst/>
          </a:prstGeom>
          <a:solidFill>
            <a:srgbClr val="2FDCC2"/>
          </a:solidFill>
          <a:ln>
            <a:solidFill>
              <a:srgbClr val="2FDC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719072"/>
            <a:ext cx="3108960" cy="347472"/>
          </a:xfrm>
          <a:prstGeom prst="rect">
            <a:avLst/>
          </a:prstGeom>
          <a:noFill/>
        </p:spPr>
        <p:txBody>
          <a:bodyPr wrap="square" lIns="36576" rIns="36576" tIns="18288" bIns="18288">
            <a:spAutoFit/>
          </a:bodyPr>
          <a:lstStyle/>
          <a:p>
            <a:pPr algn="l"/>
            <a:r>
              <a:rPr sz="1600" b="1">
                <a:solidFill>
                  <a:srgbClr val="F0F6FF"/>
                </a:solidFill>
                <a:latin typeface="Aptos"/>
              </a:rPr>
              <a:t>Backend</a:t>
            </a:r>
          </a:p>
        </p:txBody>
      </p:sp>
      <p:sp>
        <p:nvSpPr>
          <p:cNvPr id="14" name="TextBox 13"/>
          <p:cNvSpPr txBox="1"/>
          <p:nvPr/>
        </p:nvSpPr>
        <p:spPr>
          <a:xfrm>
            <a:off x="4572000" y="2194560"/>
            <a:ext cx="3090672" cy="2862072"/>
          </a:xfrm>
          <a:prstGeom prst="rect">
            <a:avLst/>
          </a:prstGeom>
          <a:noFill/>
        </p:spPr>
        <p:txBody>
          <a:bodyPr wrap="square" lIns="27432" rIns="27432" tIns="18288">
            <a:spAutoFit/>
          </a:bodyPr>
          <a:lstStyle/>
          <a:p>
            <a:pPr>
              <a:spcAft>
                <a:spcPts val="700"/>
              </a:spcAft>
              <a:defRPr sz="1300">
                <a:solidFill>
                  <a:srgbClr val="A0B3CD"/>
                </a:solidFill>
                <a:latin typeface="Aptos"/>
              </a:defRPr>
            </a:pPr>
            <a:r>
              <a:t>•  FastAPI + Uvicorn</a:t>
            </a:r>
          </a:p>
          <a:p>
            <a:pPr>
              <a:spcAft>
                <a:spcPts val="700"/>
              </a:spcAft>
              <a:defRPr sz="1300">
                <a:solidFill>
                  <a:srgbClr val="A0B3CD"/>
                </a:solidFill>
                <a:latin typeface="Aptos"/>
              </a:defRPr>
            </a:pPr>
            <a:r>
              <a:t>•  Context.dev client configuration</a:t>
            </a:r>
          </a:p>
          <a:p>
            <a:pPr>
              <a:spcAft>
                <a:spcPts val="700"/>
              </a:spcAft>
              <a:defRPr sz="1300">
                <a:solidFill>
                  <a:srgbClr val="A0B3CD"/>
                </a:solidFill>
                <a:latin typeface="Aptos"/>
              </a:defRPr>
            </a:pPr>
            <a:r>
              <a:t>•  SQLite persistence</a:t>
            </a:r>
          </a:p>
          <a:p>
            <a:pPr>
              <a:spcAft>
                <a:spcPts val="700"/>
              </a:spcAft>
              <a:defRPr sz="1300">
                <a:solidFill>
                  <a:srgbClr val="A0B3CD"/>
                </a:solidFill>
                <a:latin typeface="Aptos"/>
              </a:defRPr>
            </a:pPr>
            <a:r>
              <a:t>•  POST /api/pipeline/run</a:t>
            </a:r>
          </a:p>
          <a:p>
            <a:pPr>
              <a:spcAft>
                <a:spcPts val="700"/>
              </a:spcAft>
              <a:defRPr sz="1300">
                <a:solidFill>
                  <a:srgbClr val="A0B3CD"/>
                </a:solidFill>
                <a:latin typeface="Aptos"/>
              </a:defRPr>
            </a:pPr>
            <a:r>
              <a:t>•  GET /api/health</a:t>
            </a:r>
          </a:p>
        </p:txBody>
      </p:sp>
      <p:sp>
        <p:nvSpPr>
          <p:cNvPr id="15" name="Rounded Rectangle 14"/>
          <p:cNvSpPr/>
          <p:nvPr/>
        </p:nvSpPr>
        <p:spPr>
          <a:xfrm>
            <a:off x="8046720" y="1554480"/>
            <a:ext cx="3474720" cy="3611880"/>
          </a:xfrm>
          <a:prstGeom prst="roundRect">
            <a:avLst/>
          </a:prstGeom>
          <a:solidFill>
            <a:srgbClr val="131E31"/>
          </a:solidFill>
          <a:ln>
            <a:solidFill>
              <a:srgbClr val="1928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6720" y="1554480"/>
            <a:ext cx="64008" cy="3611880"/>
          </a:xfrm>
          <a:prstGeom prst="rect">
            <a:avLst/>
          </a:prstGeom>
          <a:solidFill>
            <a:srgbClr val="B482FF"/>
          </a:solidFill>
          <a:ln>
            <a:solidFill>
              <a:srgbClr val="B48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47888" y="1719072"/>
            <a:ext cx="3108960" cy="347472"/>
          </a:xfrm>
          <a:prstGeom prst="rect">
            <a:avLst/>
          </a:prstGeom>
          <a:noFill/>
        </p:spPr>
        <p:txBody>
          <a:bodyPr wrap="square" lIns="36576" rIns="36576" tIns="18288" bIns="18288">
            <a:spAutoFit/>
          </a:bodyPr>
          <a:lstStyle/>
          <a:p>
            <a:pPr algn="l"/>
            <a:r>
              <a:rPr sz="1600" b="1">
                <a:solidFill>
                  <a:srgbClr val="F0F6FF"/>
                </a:solidFill>
                <a:latin typeface="Aptos"/>
              </a:rPr>
              <a:t>Run &amp; verify</a:t>
            </a:r>
          </a:p>
        </p:txBody>
      </p:sp>
      <p:sp>
        <p:nvSpPr>
          <p:cNvPr id="18" name="TextBox 17"/>
          <p:cNvSpPr txBox="1"/>
          <p:nvPr/>
        </p:nvSpPr>
        <p:spPr>
          <a:xfrm>
            <a:off x="8247888" y="2194560"/>
            <a:ext cx="3090672" cy="2862072"/>
          </a:xfrm>
          <a:prstGeom prst="rect">
            <a:avLst/>
          </a:prstGeom>
          <a:noFill/>
        </p:spPr>
        <p:txBody>
          <a:bodyPr wrap="square" lIns="27432" rIns="27432" tIns="18288">
            <a:spAutoFit/>
          </a:bodyPr>
          <a:lstStyle/>
          <a:p>
            <a:pPr>
              <a:spcAft>
                <a:spcPts val="700"/>
              </a:spcAft>
              <a:defRPr sz="1300">
                <a:solidFill>
                  <a:srgbClr val="A0B3CD"/>
                </a:solidFill>
                <a:latin typeface="Aptos"/>
              </a:defRPr>
            </a:pPr>
            <a:r>
              <a:t>•  Start backend and keep terminal open</a:t>
            </a:r>
          </a:p>
          <a:p>
            <a:pPr>
              <a:spcAft>
                <a:spcPts val="700"/>
              </a:spcAft>
              <a:defRPr sz="1300">
                <a:solidFill>
                  <a:srgbClr val="A0B3CD"/>
                </a:solidFill>
                <a:latin typeface="Aptos"/>
              </a:defRPr>
            </a:pPr>
            <a:r>
              <a:t>•  Start frontend in second terminal</a:t>
            </a:r>
          </a:p>
          <a:p>
            <a:pPr>
              <a:spcAft>
                <a:spcPts val="700"/>
              </a:spcAft>
              <a:defRPr sz="1300">
                <a:solidFill>
                  <a:srgbClr val="A0B3CD"/>
                </a:solidFill>
                <a:latin typeface="Aptos"/>
              </a:defRPr>
            </a:pPr>
            <a:r>
              <a:t>•  Verify /api/health and /docs</a:t>
            </a:r>
          </a:p>
          <a:p>
            <a:pPr>
              <a:spcAft>
                <a:spcPts val="700"/>
              </a:spcAft>
              <a:defRPr sz="1300">
                <a:solidFill>
                  <a:srgbClr val="A0B3CD"/>
                </a:solidFill>
                <a:latin typeface="Aptos"/>
              </a:defRPr>
            </a:pPr>
            <a:r>
              <a:t>•  Run pipeline from dashboard</a:t>
            </a:r>
          </a:p>
          <a:p>
            <a:pPr>
              <a:spcAft>
                <a:spcPts val="700"/>
              </a:spcAft>
              <a:defRPr sz="1300">
                <a:solidFill>
                  <a:srgbClr val="A0B3CD"/>
                </a:solidFill>
                <a:latin typeface="Aptos"/>
              </a:defRPr>
            </a:pPr>
            <a:r>
              <a:t>•  Inspect JSON, report and leads</a:t>
            </a:r>
          </a:p>
        </p:txBody>
      </p:sp>
      <p:sp>
        <p:nvSpPr>
          <p:cNvPr id="19" name="Rounded Rectangle 18"/>
          <p:cNvSpPr/>
          <p:nvPr/>
        </p:nvSpPr>
        <p:spPr>
          <a:xfrm>
            <a:off x="713232" y="5440680"/>
            <a:ext cx="10744200" cy="566928"/>
          </a:xfrm>
          <a:prstGeom prst="roundRect">
            <a:avLst/>
          </a:prstGeom>
          <a:solidFill>
            <a:srgbClr val="19283E"/>
          </a:solidFill>
          <a:ln>
            <a:solidFill>
              <a:srgbClr val="1928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5605272"/>
            <a:ext cx="10332720" cy="210312"/>
          </a:xfrm>
          <a:prstGeom prst="rect">
            <a:avLst/>
          </a:prstGeom>
          <a:noFill/>
        </p:spPr>
        <p:txBody>
          <a:bodyPr wrap="square" lIns="36576" rIns="36576" tIns="18288" bIns="18288">
            <a:spAutoFit/>
          </a:bodyPr>
          <a:lstStyle/>
          <a:p>
            <a:pPr algn="ctr"/>
            <a:r>
              <a:rPr sz="1200" b="1">
                <a:solidFill>
                  <a:srgbClr val="FFBE4B"/>
                </a:solidFill>
                <a:latin typeface="Aptos"/>
              </a:rPr>
              <a:t>Security: keep CONTEXT_DEV_API_KEY in backend .env; never expose secrets in React.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11F"/>
        </a:solidFill>
        <a:effectLst/>
      </p:bgPr>
    </p:bg>
    <p:spTree>
      <p:nvGrpSpPr>
        <p:cNvPr id="1" name=""/>
        <p:cNvGrpSpPr/>
        <p:nvPr/>
      </p:nvGrpSpPr>
      <p:grpSpPr/>
      <p:sp>
        <p:nvSpPr>
          <p:cNvPr id="2" name="TextBox 1"/>
          <p:cNvSpPr txBox="1"/>
          <p:nvPr/>
        </p:nvSpPr>
        <p:spPr>
          <a:xfrm>
            <a:off x="594360" y="292608"/>
            <a:ext cx="10972800" cy="457200"/>
          </a:xfrm>
          <a:prstGeom prst="rect">
            <a:avLst/>
          </a:prstGeom>
          <a:noFill/>
        </p:spPr>
        <p:txBody>
          <a:bodyPr wrap="square" lIns="36576" rIns="36576" tIns="18288" bIns="18288">
            <a:spAutoFit/>
          </a:bodyPr>
          <a:lstStyle/>
          <a:p>
            <a:pPr algn="l"/>
            <a:r>
              <a:rPr sz="2600" b="1">
                <a:solidFill>
                  <a:srgbClr val="F0F6FF"/>
                </a:solidFill>
                <a:latin typeface="Aptos"/>
              </a:rPr>
              <a:t>Evaluation, Risks &amp; Next Steps</a:t>
            </a:r>
          </a:p>
        </p:txBody>
      </p:sp>
      <p:sp>
        <p:nvSpPr>
          <p:cNvPr id="3" name="TextBox 2"/>
          <p:cNvSpPr txBox="1"/>
          <p:nvPr/>
        </p:nvSpPr>
        <p:spPr>
          <a:xfrm>
            <a:off x="621792" y="832104"/>
            <a:ext cx="10972800" cy="292608"/>
          </a:xfrm>
          <a:prstGeom prst="rect">
            <a:avLst/>
          </a:prstGeom>
          <a:noFill/>
        </p:spPr>
        <p:txBody>
          <a:bodyPr wrap="square" lIns="36576" rIns="36576" tIns="18288" bIns="18288">
            <a:spAutoFit/>
          </a:bodyPr>
          <a:lstStyle/>
          <a:p>
            <a:pPr algn="l"/>
            <a:r>
              <a:rPr sz="1100" b="0">
                <a:solidFill>
                  <a:srgbClr val="A0B3CD"/>
                </a:solidFill>
                <a:latin typeface="Aptos"/>
              </a:rPr>
              <a:t>Measure whether the workflow creates useful, safe and relevant GTM outcomes.</a:t>
            </a:r>
          </a:p>
        </p:txBody>
      </p:sp>
      <p:sp>
        <p:nvSpPr>
          <p:cNvPr id="4" name="Rectangle 3"/>
          <p:cNvSpPr/>
          <p:nvPr/>
        </p:nvSpPr>
        <p:spPr>
          <a:xfrm>
            <a:off x="621792" y="1225296"/>
            <a:ext cx="960120" cy="41148"/>
          </a:xfrm>
          <a:prstGeom prst="rect">
            <a:avLst/>
          </a:prstGeom>
          <a:solidFill>
            <a:srgbClr val="2FDCC2"/>
          </a:solidFill>
          <a:ln>
            <a:solidFill>
              <a:srgbClr val="2FDC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6510528"/>
            <a:ext cx="8229600" cy="164592"/>
          </a:xfrm>
          <a:prstGeom prst="rect">
            <a:avLst/>
          </a:prstGeom>
          <a:noFill/>
        </p:spPr>
        <p:txBody>
          <a:bodyPr wrap="square" lIns="36576" rIns="36576" tIns="18288" bIns="18288">
            <a:spAutoFit/>
          </a:bodyPr>
          <a:lstStyle/>
          <a:p>
            <a:pPr algn="l"/>
            <a:r>
              <a:rPr sz="800" b="1">
                <a:solidFill>
                  <a:srgbClr val="A0B3CD"/>
                </a:solidFill>
                <a:latin typeface="Aptos"/>
              </a:rPr>
              <a:t>VANI GTM MULTI-AGENT SYSTEM  •  ASSIGNMENT DEMO</a:t>
            </a:r>
          </a:p>
        </p:txBody>
      </p:sp>
      <p:sp>
        <p:nvSpPr>
          <p:cNvPr id="6" name="TextBox 5"/>
          <p:cNvSpPr txBox="1"/>
          <p:nvPr/>
        </p:nvSpPr>
        <p:spPr>
          <a:xfrm>
            <a:off x="11064240" y="6473952"/>
            <a:ext cx="457200" cy="182880"/>
          </a:xfrm>
          <a:prstGeom prst="rect">
            <a:avLst/>
          </a:prstGeom>
          <a:noFill/>
        </p:spPr>
        <p:txBody>
          <a:bodyPr wrap="square" lIns="36576" rIns="36576" tIns="18288" bIns="18288">
            <a:spAutoFit/>
          </a:bodyPr>
          <a:lstStyle/>
          <a:p>
            <a:pPr algn="r"/>
            <a:r>
              <a:rPr sz="900" b="1">
                <a:solidFill>
                  <a:srgbClr val="A0B3CD"/>
                </a:solidFill>
                <a:latin typeface="Aptos"/>
              </a:rPr>
              <a:t>10</a:t>
            </a:r>
          </a:p>
        </p:txBody>
      </p:sp>
      <p:sp>
        <p:nvSpPr>
          <p:cNvPr id="7" name="Rounded Rectangle 6"/>
          <p:cNvSpPr/>
          <p:nvPr/>
        </p:nvSpPr>
        <p:spPr>
          <a:xfrm>
            <a:off x="685800" y="1554480"/>
            <a:ext cx="3474720" cy="3840480"/>
          </a:xfrm>
          <a:prstGeom prst="roundRect">
            <a:avLst/>
          </a:prstGeom>
          <a:solidFill>
            <a:srgbClr val="131E31"/>
          </a:solidFill>
          <a:ln>
            <a:solidFill>
              <a:srgbClr val="1928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1554480"/>
            <a:ext cx="64008" cy="3840480"/>
          </a:xfrm>
          <a:prstGeom prst="rect">
            <a:avLst/>
          </a:prstGeom>
          <a:solidFill>
            <a:srgbClr val="2FDCC2"/>
          </a:solidFill>
          <a:ln>
            <a:solidFill>
              <a:srgbClr val="2FDC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1719072"/>
            <a:ext cx="3108960" cy="347472"/>
          </a:xfrm>
          <a:prstGeom prst="rect">
            <a:avLst/>
          </a:prstGeom>
          <a:noFill/>
        </p:spPr>
        <p:txBody>
          <a:bodyPr wrap="square" lIns="36576" rIns="36576" tIns="18288" bIns="18288">
            <a:spAutoFit/>
          </a:bodyPr>
          <a:lstStyle/>
          <a:p>
            <a:pPr algn="l"/>
            <a:r>
              <a:rPr sz="1600" b="1">
                <a:solidFill>
                  <a:srgbClr val="F0F6FF"/>
                </a:solidFill>
                <a:latin typeface="Aptos"/>
              </a:rPr>
              <a:t>Success metrics</a:t>
            </a:r>
          </a:p>
        </p:txBody>
      </p:sp>
      <p:sp>
        <p:nvSpPr>
          <p:cNvPr id="10" name="TextBox 9"/>
          <p:cNvSpPr txBox="1"/>
          <p:nvPr/>
        </p:nvSpPr>
        <p:spPr>
          <a:xfrm>
            <a:off x="886968" y="2194560"/>
            <a:ext cx="3090672" cy="3090672"/>
          </a:xfrm>
          <a:prstGeom prst="rect">
            <a:avLst/>
          </a:prstGeom>
          <a:noFill/>
        </p:spPr>
        <p:txBody>
          <a:bodyPr wrap="square" lIns="27432" rIns="27432" tIns="18288">
            <a:spAutoFit/>
          </a:bodyPr>
          <a:lstStyle/>
          <a:p>
            <a:pPr>
              <a:spcAft>
                <a:spcPts val="700"/>
              </a:spcAft>
              <a:defRPr sz="1300">
                <a:solidFill>
                  <a:srgbClr val="A0B3CD"/>
                </a:solidFill>
                <a:latin typeface="Aptos"/>
              </a:defRPr>
            </a:pPr>
            <a:r>
              <a:t>•  Signal precision and source freshness</a:t>
            </a:r>
          </a:p>
          <a:p>
            <a:pPr>
              <a:spcAft>
                <a:spcPts val="700"/>
              </a:spcAft>
              <a:defRPr sz="1300">
                <a:solidFill>
                  <a:srgbClr val="A0B3CD"/>
                </a:solidFill>
                <a:latin typeface="Aptos"/>
              </a:defRPr>
            </a:pPr>
            <a:r>
              <a:t>•  ICP acceptance after human review</a:t>
            </a:r>
          </a:p>
          <a:p>
            <a:pPr>
              <a:spcAft>
                <a:spcPts val="700"/>
              </a:spcAft>
              <a:defRPr sz="1300">
                <a:solidFill>
                  <a:srgbClr val="A0B3CD"/>
                </a:solidFill>
                <a:latin typeface="Aptos"/>
              </a:defRPr>
            </a:pPr>
            <a:r>
              <a:t>•  Personalization quality rating</a:t>
            </a:r>
          </a:p>
          <a:p>
            <a:pPr>
              <a:spcAft>
                <a:spcPts val="700"/>
              </a:spcAft>
              <a:defRPr sz="1300">
                <a:solidFill>
                  <a:srgbClr val="A0B3CD"/>
                </a:solidFill>
                <a:latin typeface="Aptos"/>
              </a:defRPr>
            </a:pPr>
            <a:r>
              <a:t>•  Reply and meeting-booked rates</a:t>
            </a:r>
          </a:p>
          <a:p>
            <a:pPr>
              <a:spcAft>
                <a:spcPts val="700"/>
              </a:spcAft>
              <a:defRPr sz="1300">
                <a:solidFill>
                  <a:srgbClr val="A0B3CD"/>
                </a:solidFill>
                <a:latin typeface="Aptos"/>
              </a:defRPr>
            </a:pPr>
            <a:r>
              <a:t>•  False-positive and duplicate rate</a:t>
            </a:r>
          </a:p>
        </p:txBody>
      </p:sp>
      <p:sp>
        <p:nvSpPr>
          <p:cNvPr id="11" name="Rounded Rectangle 10"/>
          <p:cNvSpPr/>
          <p:nvPr/>
        </p:nvSpPr>
        <p:spPr>
          <a:xfrm>
            <a:off x="4370832" y="1554480"/>
            <a:ext cx="3474720" cy="3840480"/>
          </a:xfrm>
          <a:prstGeom prst="roundRect">
            <a:avLst/>
          </a:prstGeom>
          <a:solidFill>
            <a:srgbClr val="131E31"/>
          </a:solidFill>
          <a:ln>
            <a:solidFill>
              <a:srgbClr val="1928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0832" y="1554480"/>
            <a:ext cx="64008" cy="3840480"/>
          </a:xfrm>
          <a:prstGeom prst="rect">
            <a:avLst/>
          </a:prstGeom>
          <a:solidFill>
            <a:srgbClr val="FF6E82"/>
          </a:solidFill>
          <a:ln>
            <a:solidFill>
              <a:srgbClr val="FF6E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719072"/>
            <a:ext cx="3108960" cy="347472"/>
          </a:xfrm>
          <a:prstGeom prst="rect">
            <a:avLst/>
          </a:prstGeom>
          <a:noFill/>
        </p:spPr>
        <p:txBody>
          <a:bodyPr wrap="square" lIns="36576" rIns="36576" tIns="18288" bIns="18288">
            <a:spAutoFit/>
          </a:bodyPr>
          <a:lstStyle/>
          <a:p>
            <a:pPr algn="l"/>
            <a:r>
              <a:rPr sz="1600" b="1">
                <a:solidFill>
                  <a:srgbClr val="F0F6FF"/>
                </a:solidFill>
                <a:latin typeface="Aptos"/>
              </a:rPr>
              <a:t>Current limitations</a:t>
            </a:r>
          </a:p>
        </p:txBody>
      </p:sp>
      <p:sp>
        <p:nvSpPr>
          <p:cNvPr id="14" name="TextBox 13"/>
          <p:cNvSpPr txBox="1"/>
          <p:nvPr/>
        </p:nvSpPr>
        <p:spPr>
          <a:xfrm>
            <a:off x="4572000" y="2194560"/>
            <a:ext cx="3090672" cy="3090672"/>
          </a:xfrm>
          <a:prstGeom prst="rect">
            <a:avLst/>
          </a:prstGeom>
          <a:noFill/>
        </p:spPr>
        <p:txBody>
          <a:bodyPr wrap="square" lIns="27432" rIns="27432" tIns="18288">
            <a:spAutoFit/>
          </a:bodyPr>
          <a:lstStyle/>
          <a:p>
            <a:pPr>
              <a:spcAft>
                <a:spcPts val="700"/>
              </a:spcAft>
              <a:defRPr sz="1200">
                <a:solidFill>
                  <a:srgbClr val="A0B3CD"/>
                </a:solidFill>
                <a:latin typeface="Aptos"/>
              </a:defRPr>
            </a:pPr>
            <a:r>
              <a:t>•  Seed signals may be curated, not live</a:t>
            </a:r>
          </a:p>
          <a:p>
            <a:pPr>
              <a:spcAft>
                <a:spcPts val="700"/>
              </a:spcAft>
              <a:defRPr sz="1200">
                <a:solidFill>
                  <a:srgbClr val="A0B3CD"/>
                </a:solidFill>
                <a:latin typeface="Aptos"/>
              </a:defRPr>
            </a:pPr>
            <a:r>
              <a:t>•  ICP weights are heuristic</a:t>
            </a:r>
          </a:p>
          <a:p>
            <a:pPr>
              <a:spcAft>
                <a:spcPts val="700"/>
              </a:spcAft>
              <a:defRPr sz="1200">
                <a:solidFill>
                  <a:srgbClr val="A0B3CD"/>
                </a:solidFill>
                <a:latin typeface="Aptos"/>
              </a:defRPr>
            </a:pPr>
            <a:r>
              <a:t>•  Persona/contact may be unverified</a:t>
            </a:r>
          </a:p>
          <a:p>
            <a:pPr>
              <a:spcAft>
                <a:spcPts val="700"/>
              </a:spcAft>
              <a:defRPr sz="1200">
                <a:solidFill>
                  <a:srgbClr val="A0B3CD"/>
                </a:solidFill>
                <a:latin typeface="Aptos"/>
              </a:defRPr>
            </a:pPr>
            <a:r>
              <a:t>•  Duplicate/suppression integrations may be absent</a:t>
            </a:r>
          </a:p>
          <a:p>
            <a:pPr>
              <a:spcAft>
                <a:spcPts val="700"/>
              </a:spcAft>
              <a:defRPr sz="1200">
                <a:solidFill>
                  <a:srgbClr val="A0B3CD"/>
                </a:solidFill>
                <a:latin typeface="Aptos"/>
              </a:defRPr>
            </a:pPr>
            <a:r>
              <a:t>•  Live API/frontend need runtime verification</a:t>
            </a:r>
          </a:p>
        </p:txBody>
      </p:sp>
      <p:sp>
        <p:nvSpPr>
          <p:cNvPr id="15" name="Rounded Rectangle 14"/>
          <p:cNvSpPr/>
          <p:nvPr/>
        </p:nvSpPr>
        <p:spPr>
          <a:xfrm>
            <a:off x="8046720" y="1554480"/>
            <a:ext cx="3474720" cy="3840480"/>
          </a:xfrm>
          <a:prstGeom prst="roundRect">
            <a:avLst/>
          </a:prstGeom>
          <a:solidFill>
            <a:srgbClr val="131E31"/>
          </a:solidFill>
          <a:ln>
            <a:solidFill>
              <a:srgbClr val="1928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6720" y="1554480"/>
            <a:ext cx="64008" cy="3840480"/>
          </a:xfrm>
          <a:prstGeom prst="rect">
            <a:avLst/>
          </a:prstGeom>
          <a:solidFill>
            <a:srgbClr val="579DFF"/>
          </a:solidFill>
          <a:ln>
            <a:solidFill>
              <a:srgbClr val="579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47888" y="1719072"/>
            <a:ext cx="3108960" cy="347472"/>
          </a:xfrm>
          <a:prstGeom prst="rect">
            <a:avLst/>
          </a:prstGeom>
          <a:noFill/>
        </p:spPr>
        <p:txBody>
          <a:bodyPr wrap="square" lIns="36576" rIns="36576" tIns="18288" bIns="18288">
            <a:spAutoFit/>
          </a:bodyPr>
          <a:lstStyle/>
          <a:p>
            <a:pPr algn="l"/>
            <a:r>
              <a:rPr sz="1600" b="1">
                <a:solidFill>
                  <a:srgbClr val="F0F6FF"/>
                </a:solidFill>
                <a:latin typeface="Aptos"/>
              </a:rPr>
              <a:t>Next milestones</a:t>
            </a:r>
          </a:p>
        </p:txBody>
      </p:sp>
      <p:sp>
        <p:nvSpPr>
          <p:cNvPr id="18" name="TextBox 17"/>
          <p:cNvSpPr txBox="1"/>
          <p:nvPr/>
        </p:nvSpPr>
        <p:spPr>
          <a:xfrm>
            <a:off x="8247888" y="2194560"/>
            <a:ext cx="3090672" cy="3090672"/>
          </a:xfrm>
          <a:prstGeom prst="rect">
            <a:avLst/>
          </a:prstGeom>
          <a:noFill/>
        </p:spPr>
        <p:txBody>
          <a:bodyPr wrap="square" lIns="27432" rIns="27432" tIns="18288">
            <a:spAutoFit/>
          </a:bodyPr>
          <a:lstStyle/>
          <a:p>
            <a:pPr>
              <a:spcAft>
                <a:spcPts val="700"/>
              </a:spcAft>
              <a:defRPr sz="1300">
                <a:solidFill>
                  <a:srgbClr val="A0B3CD"/>
                </a:solidFill>
                <a:latin typeface="Aptos"/>
              </a:defRPr>
            </a:pPr>
            <a:r>
              <a:t>•  Test Context.dev live research</a:t>
            </a:r>
          </a:p>
          <a:p>
            <a:pPr>
              <a:spcAft>
                <a:spcPts val="700"/>
              </a:spcAft>
              <a:defRPr sz="1300">
                <a:solidFill>
                  <a:srgbClr val="A0B3CD"/>
                </a:solidFill>
                <a:latin typeface="Aptos"/>
              </a:defRPr>
            </a:pPr>
            <a:r>
              <a:t>•  Add multiple researched target accounts</a:t>
            </a:r>
          </a:p>
          <a:p>
            <a:pPr>
              <a:spcAft>
                <a:spcPts val="700"/>
              </a:spcAft>
              <a:defRPr sz="1300">
                <a:solidFill>
                  <a:srgbClr val="A0B3CD"/>
                </a:solidFill>
                <a:latin typeface="Aptos"/>
              </a:defRPr>
            </a:pPr>
            <a:r>
              <a:t>•  Implement duplicate/suppression checks</a:t>
            </a:r>
          </a:p>
          <a:p>
            <a:pPr>
              <a:spcAft>
                <a:spcPts val="700"/>
              </a:spcAft>
              <a:defRPr sz="1300">
                <a:solidFill>
                  <a:srgbClr val="A0B3CD"/>
                </a:solidFill>
                <a:latin typeface="Aptos"/>
              </a:defRPr>
            </a:pPr>
            <a:r>
              <a:t>•  Capture approvals and outcomes</a:t>
            </a:r>
          </a:p>
          <a:p>
            <a:pPr>
              <a:spcAft>
                <a:spcPts val="700"/>
              </a:spcAft>
              <a:defRPr sz="1300">
                <a:solidFill>
                  <a:srgbClr val="A0B3CD"/>
                </a:solidFill>
                <a:latin typeface="Aptos"/>
              </a:defRPr>
            </a:pPr>
            <a:r>
              <a:t>•  Calibrate scoring from reviewed campaigns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11F"/>
        </a:solidFill>
        <a:effectLst/>
      </p:bgPr>
    </p:bg>
    <p:spTree>
      <p:nvGrpSpPr>
        <p:cNvPr id="1" name=""/>
        <p:cNvGrpSpPr/>
        <p:nvPr/>
      </p:nvGrpSpPr>
      <p:grpSpPr/>
      <p:sp>
        <p:nvSpPr>
          <p:cNvPr id="2" name="Rectangle 1"/>
          <p:cNvSpPr/>
          <p:nvPr/>
        </p:nvSpPr>
        <p:spPr>
          <a:xfrm>
            <a:off x="8138160" y="0"/>
            <a:ext cx="4053535" cy="6858000"/>
          </a:xfrm>
          <a:prstGeom prst="rect">
            <a:avLst/>
          </a:prstGeom>
          <a:solidFill>
            <a:srgbClr val="131E31"/>
          </a:solidFill>
          <a:ln>
            <a:solidFill>
              <a:srgbClr val="131E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77240"/>
            <a:ext cx="6858000" cy="320040"/>
          </a:xfrm>
          <a:prstGeom prst="rect">
            <a:avLst/>
          </a:prstGeom>
          <a:noFill/>
        </p:spPr>
        <p:txBody>
          <a:bodyPr wrap="square" lIns="36576" rIns="36576" tIns="18288" bIns="18288">
            <a:spAutoFit/>
          </a:bodyPr>
          <a:lstStyle/>
          <a:p>
            <a:pPr algn="l"/>
            <a:r>
              <a:rPr sz="1100" b="1">
                <a:solidFill>
                  <a:srgbClr val="2FDCC2"/>
                </a:solidFill>
                <a:latin typeface="Aptos"/>
              </a:rPr>
              <a:t>VANI GTM MULTI-AGENT SYSTEM</a:t>
            </a:r>
          </a:p>
        </p:txBody>
      </p:sp>
      <p:sp>
        <p:nvSpPr>
          <p:cNvPr id="4" name="TextBox 3"/>
          <p:cNvSpPr txBox="1"/>
          <p:nvPr/>
        </p:nvSpPr>
        <p:spPr>
          <a:xfrm>
            <a:off x="822960" y="1417320"/>
            <a:ext cx="6858000" cy="1097280"/>
          </a:xfrm>
          <a:prstGeom prst="rect">
            <a:avLst/>
          </a:prstGeom>
          <a:noFill/>
        </p:spPr>
        <p:txBody>
          <a:bodyPr wrap="square" lIns="36576" rIns="36576" tIns="18288" bIns="18288">
            <a:spAutoFit/>
          </a:bodyPr>
          <a:lstStyle/>
          <a:p>
            <a:pPr algn="l"/>
            <a:r>
              <a:rPr sz="3400" b="1">
                <a:solidFill>
                  <a:srgbClr val="F0F6FF"/>
                </a:solidFill>
                <a:latin typeface="Aptos"/>
              </a:rPr>
              <a:t>From signals
to accountable action.</a:t>
            </a:r>
          </a:p>
        </p:txBody>
      </p:sp>
      <p:sp>
        <p:nvSpPr>
          <p:cNvPr id="5" name="TextBox 4"/>
          <p:cNvSpPr txBox="1"/>
          <p:nvPr/>
        </p:nvSpPr>
        <p:spPr>
          <a:xfrm>
            <a:off x="850392" y="2880360"/>
            <a:ext cx="6217920" cy="960120"/>
          </a:xfrm>
          <a:prstGeom prst="rect">
            <a:avLst/>
          </a:prstGeom>
          <a:noFill/>
        </p:spPr>
        <p:txBody>
          <a:bodyPr wrap="square" lIns="36576" rIns="36576" tIns="18288" bIns="18288">
            <a:spAutoFit/>
          </a:bodyPr>
          <a:lstStyle/>
          <a:p>
            <a:pPr algn="l"/>
            <a:r>
              <a:rPr sz="1700" b="0">
                <a:solidFill>
                  <a:srgbClr val="A0B3CD"/>
                </a:solidFill>
                <a:latin typeface="Aptos"/>
              </a:rPr>
              <a:t>A modular GTM workflow that researches, qualifies, personalizes and reviews—keeping evidence and human approval at the center.</a:t>
            </a:r>
          </a:p>
        </p:txBody>
      </p:sp>
      <p:sp>
        <p:nvSpPr>
          <p:cNvPr id="6" name="Rounded Rectangle 5"/>
          <p:cNvSpPr/>
          <p:nvPr/>
        </p:nvSpPr>
        <p:spPr>
          <a:xfrm>
            <a:off x="868680" y="4709160"/>
            <a:ext cx="1389888" cy="530352"/>
          </a:xfrm>
          <a:prstGeom prst="roundRect">
            <a:avLst/>
          </a:prstGeom>
          <a:solidFill>
            <a:srgbClr val="19283E"/>
          </a:solidFill>
          <a:ln>
            <a:solidFill>
              <a:srgbClr val="1928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882896"/>
            <a:ext cx="1298448" cy="182880"/>
          </a:xfrm>
          <a:prstGeom prst="rect">
            <a:avLst/>
          </a:prstGeom>
          <a:noFill/>
        </p:spPr>
        <p:txBody>
          <a:bodyPr wrap="square" lIns="36576" rIns="36576" tIns="18288" bIns="18288">
            <a:spAutoFit/>
          </a:bodyPr>
          <a:lstStyle/>
          <a:p>
            <a:pPr algn="ctr"/>
            <a:r>
              <a:rPr sz="1000" b="1">
                <a:solidFill>
                  <a:srgbClr val="2FDCC2"/>
                </a:solidFill>
                <a:latin typeface="Aptos"/>
              </a:rPr>
              <a:t>DETECT</a:t>
            </a:r>
          </a:p>
        </p:txBody>
      </p:sp>
      <p:sp>
        <p:nvSpPr>
          <p:cNvPr id="8" name="Rounded Rectangle 7"/>
          <p:cNvSpPr/>
          <p:nvPr/>
        </p:nvSpPr>
        <p:spPr>
          <a:xfrm>
            <a:off x="2468880" y="4709160"/>
            <a:ext cx="1389888" cy="530352"/>
          </a:xfrm>
          <a:prstGeom prst="roundRect">
            <a:avLst/>
          </a:prstGeom>
          <a:solidFill>
            <a:srgbClr val="19283E"/>
          </a:solidFill>
          <a:ln>
            <a:solidFill>
              <a:srgbClr val="1928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514600" y="4882896"/>
            <a:ext cx="1298448" cy="182880"/>
          </a:xfrm>
          <a:prstGeom prst="rect">
            <a:avLst/>
          </a:prstGeom>
          <a:noFill/>
        </p:spPr>
        <p:txBody>
          <a:bodyPr wrap="square" lIns="36576" rIns="36576" tIns="18288" bIns="18288">
            <a:spAutoFit/>
          </a:bodyPr>
          <a:lstStyle/>
          <a:p>
            <a:pPr algn="ctr"/>
            <a:r>
              <a:rPr sz="1000" b="1">
                <a:solidFill>
                  <a:srgbClr val="579DFF"/>
                </a:solidFill>
                <a:latin typeface="Aptos"/>
              </a:rPr>
              <a:t>QUALIFY</a:t>
            </a:r>
          </a:p>
        </p:txBody>
      </p:sp>
      <p:sp>
        <p:nvSpPr>
          <p:cNvPr id="10" name="Rounded Rectangle 9"/>
          <p:cNvSpPr/>
          <p:nvPr/>
        </p:nvSpPr>
        <p:spPr>
          <a:xfrm>
            <a:off x="4069080" y="4709160"/>
            <a:ext cx="1389888" cy="530352"/>
          </a:xfrm>
          <a:prstGeom prst="roundRect">
            <a:avLst/>
          </a:prstGeom>
          <a:solidFill>
            <a:srgbClr val="19283E"/>
          </a:solidFill>
          <a:ln>
            <a:solidFill>
              <a:srgbClr val="1928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0" y="4882896"/>
            <a:ext cx="1298448" cy="182880"/>
          </a:xfrm>
          <a:prstGeom prst="rect">
            <a:avLst/>
          </a:prstGeom>
          <a:noFill/>
        </p:spPr>
        <p:txBody>
          <a:bodyPr wrap="square" lIns="36576" rIns="36576" tIns="18288" bIns="18288">
            <a:spAutoFit/>
          </a:bodyPr>
          <a:lstStyle/>
          <a:p>
            <a:pPr algn="ctr"/>
            <a:r>
              <a:rPr sz="1000" b="1">
                <a:solidFill>
                  <a:srgbClr val="B482FF"/>
                </a:solidFill>
                <a:latin typeface="Aptos"/>
              </a:rPr>
              <a:t>PERSONALIZE</a:t>
            </a:r>
          </a:p>
        </p:txBody>
      </p:sp>
      <p:sp>
        <p:nvSpPr>
          <p:cNvPr id="12" name="Rounded Rectangle 11"/>
          <p:cNvSpPr/>
          <p:nvPr/>
        </p:nvSpPr>
        <p:spPr>
          <a:xfrm>
            <a:off x="5669280" y="4709160"/>
            <a:ext cx="1389888" cy="530352"/>
          </a:xfrm>
          <a:prstGeom prst="roundRect">
            <a:avLst/>
          </a:prstGeom>
          <a:solidFill>
            <a:srgbClr val="19283E"/>
          </a:solidFill>
          <a:ln>
            <a:solidFill>
              <a:srgbClr val="1928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15000" y="4882896"/>
            <a:ext cx="1298448" cy="182880"/>
          </a:xfrm>
          <a:prstGeom prst="rect">
            <a:avLst/>
          </a:prstGeom>
          <a:noFill/>
        </p:spPr>
        <p:txBody>
          <a:bodyPr wrap="square" lIns="36576" rIns="36576" tIns="18288" bIns="18288">
            <a:spAutoFit/>
          </a:bodyPr>
          <a:lstStyle/>
          <a:p>
            <a:pPr algn="ctr"/>
            <a:r>
              <a:rPr sz="1000" b="1">
                <a:solidFill>
                  <a:srgbClr val="FFBE4B"/>
                </a:solidFill>
                <a:latin typeface="Aptos"/>
              </a:rPr>
              <a:t>REVIEW</a:t>
            </a:r>
          </a:p>
        </p:txBody>
      </p:sp>
      <p:sp>
        <p:nvSpPr>
          <p:cNvPr id="14" name="TextBox 13"/>
          <p:cNvSpPr txBox="1"/>
          <p:nvPr/>
        </p:nvSpPr>
        <p:spPr>
          <a:xfrm>
            <a:off x="8549640" y="2011680"/>
            <a:ext cx="2743200" cy="457200"/>
          </a:xfrm>
          <a:prstGeom prst="rect">
            <a:avLst/>
          </a:prstGeom>
          <a:noFill/>
        </p:spPr>
        <p:txBody>
          <a:bodyPr wrap="square" lIns="36576" rIns="36576" tIns="18288" bIns="18288">
            <a:spAutoFit/>
          </a:bodyPr>
          <a:lstStyle/>
          <a:p>
            <a:pPr algn="ctr"/>
            <a:r>
              <a:rPr sz="2600" b="1">
                <a:solidFill>
                  <a:srgbClr val="F0F6FF"/>
                </a:solidFill>
                <a:latin typeface="Aptos"/>
              </a:rPr>
              <a:t>Thank you</a:t>
            </a:r>
          </a:p>
        </p:txBody>
      </p:sp>
      <p:sp>
        <p:nvSpPr>
          <p:cNvPr id="15" name="TextBox 14"/>
          <p:cNvSpPr txBox="1"/>
          <p:nvPr/>
        </p:nvSpPr>
        <p:spPr>
          <a:xfrm>
            <a:off x="8641080" y="2788920"/>
            <a:ext cx="2560320" cy="1005840"/>
          </a:xfrm>
          <a:prstGeom prst="rect">
            <a:avLst/>
          </a:prstGeom>
          <a:noFill/>
        </p:spPr>
        <p:txBody>
          <a:bodyPr wrap="square" lIns="36576" rIns="36576" tIns="18288" bIns="18288">
            <a:spAutoFit/>
          </a:bodyPr>
          <a:lstStyle/>
          <a:p>
            <a:pPr algn="ctr"/>
            <a:r>
              <a:rPr sz="1700" b="0">
                <a:solidFill>
                  <a:srgbClr val="A0B3CD"/>
                </a:solidFill>
                <a:latin typeface="Aptos"/>
              </a:rPr>
              <a:t>Questions &amp;
discussion</a:t>
            </a:r>
          </a:p>
        </p:txBody>
      </p:sp>
      <p:sp>
        <p:nvSpPr>
          <p:cNvPr id="16" name="TextBox 15"/>
          <p:cNvSpPr txBox="1"/>
          <p:nvPr/>
        </p:nvSpPr>
        <p:spPr>
          <a:xfrm>
            <a:off x="850392" y="6172200"/>
            <a:ext cx="6858000" cy="228600"/>
          </a:xfrm>
          <a:prstGeom prst="rect">
            <a:avLst/>
          </a:prstGeom>
          <a:noFill/>
        </p:spPr>
        <p:txBody>
          <a:bodyPr wrap="square" lIns="36576" rIns="36576" tIns="18288" bIns="18288">
            <a:spAutoFit/>
          </a:bodyPr>
          <a:lstStyle/>
          <a:p>
            <a:pPr algn="l"/>
            <a:r>
              <a:rPr sz="1000" b="0">
                <a:solidFill>
                  <a:srgbClr val="A0B3CD"/>
                </a:solidFill>
                <a:latin typeface="Aptos"/>
              </a:rPr>
              <a:t>Describe prototype status and live integrations accurately during the demo.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